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4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5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01beac5c8438b" /><Relationship Type="http://schemas.openxmlformats.org/officeDocument/2006/relationships/extended-properties" Target="/docProps/app.xml" Id="R63cecbd1b0b44891" /><Relationship Type="http://schemas.openxmlformats.org/officeDocument/2006/relationships/officeDocument" Target="/ppt/presentation.xml" Id="R2312435cd4bd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e255c51d644090"/>
  </p:sldMasterIdLst>
  <p:notesMasterIdLst>
    <p:notesMasterId xmlns:r="http://schemas.openxmlformats.org/officeDocument/2006/relationships" r:id="Re61ead485eae4b85"/>
  </p:notesMasterIdLst>
  <p:sldIdLst>
    <p:sldId xmlns:r="http://schemas.openxmlformats.org/officeDocument/2006/relationships" id="256" r:id="Rabd4f469b7f74977"/>
    <p:sldId xmlns:r="http://schemas.openxmlformats.org/officeDocument/2006/relationships" id="257" r:id="Rf7f57a97cde54ea4"/>
    <p:sldId xmlns:r="http://schemas.openxmlformats.org/officeDocument/2006/relationships" id="258" r:id="Rb58ba96ae83f430e"/>
    <p:sldId xmlns:r="http://schemas.openxmlformats.org/officeDocument/2006/relationships" id="259" r:id="R1c27a7dfce264a0f"/>
    <p:sldId xmlns:r="http://schemas.openxmlformats.org/officeDocument/2006/relationships" id="260" r:id="R9ef32352994343d5"/>
    <p:sldId xmlns:r="http://schemas.openxmlformats.org/officeDocument/2006/relationships" id="261" r:id="R2db73d7c7f494acf"/>
    <p:sldId xmlns:r="http://schemas.openxmlformats.org/officeDocument/2006/relationships" id="262" r:id="R8e34e77c42ee428b"/>
    <p:sldId xmlns:r="http://schemas.openxmlformats.org/officeDocument/2006/relationships" id="263" r:id="R6da89e8e09b741af"/>
    <p:sldId xmlns:r="http://schemas.openxmlformats.org/officeDocument/2006/relationships" id="264" r:id="R229ce3aefbb14d9a"/>
    <p:sldId xmlns:r="http://schemas.openxmlformats.org/officeDocument/2006/relationships" id="265" r:id="Re739cf03937e49a9"/>
    <p:sldId xmlns:r="http://schemas.openxmlformats.org/officeDocument/2006/relationships" id="266" r:id="Rce320c7ec6694e3e"/>
    <p:sldId xmlns:r="http://schemas.openxmlformats.org/officeDocument/2006/relationships" id="267" r:id="R86bf9fc814504a7a"/>
    <p:sldId xmlns:r="http://schemas.openxmlformats.org/officeDocument/2006/relationships" id="268" r:id="R6740c1867a4441bc"/>
    <p:sldId xmlns:r="http://schemas.openxmlformats.org/officeDocument/2006/relationships" id="269" r:id="R9ece0e6c4da6409b"/>
    <p:sldId xmlns:r="http://schemas.openxmlformats.org/officeDocument/2006/relationships" id="270" r:id="Rb72af11f06614bf1"/>
    <p:sldId xmlns:r="http://schemas.openxmlformats.org/officeDocument/2006/relationships" id="271" r:id="Rca33b754bf154108"/>
    <p:sldId xmlns:r="http://schemas.openxmlformats.org/officeDocument/2006/relationships" id="272" r:id="R6991e0a5c1944390"/>
    <p:sldId xmlns:r="http://schemas.openxmlformats.org/officeDocument/2006/relationships" id="273" r:id="R51367ff2334e47fc"/>
    <p:sldId xmlns:r="http://schemas.openxmlformats.org/officeDocument/2006/relationships" id="274" r:id="Rd013994eaee6420d"/>
    <p:sldId xmlns:r="http://schemas.openxmlformats.org/officeDocument/2006/relationships" id="275" r:id="R324f9dcf9dfb4c73"/>
    <p:sldId xmlns:r="http://schemas.openxmlformats.org/officeDocument/2006/relationships" id="276" r:id="Ra885581e5ff04bef"/>
    <p:sldId xmlns:r="http://schemas.openxmlformats.org/officeDocument/2006/relationships" id="277" r:id="Rfcd7a09d8cc346b4"/>
    <p:sldId xmlns:r="http://schemas.openxmlformats.org/officeDocument/2006/relationships" id="278" r:id="R764554edd22f43a2"/>
    <p:sldId xmlns:r="http://schemas.openxmlformats.org/officeDocument/2006/relationships" id="279" r:id="Reb221a91e5c4474f"/>
    <p:sldId xmlns:r="http://schemas.openxmlformats.org/officeDocument/2006/relationships" id="280" r:id="R00df26f8f08a45a8"/>
    <p:sldId xmlns:r="http://schemas.openxmlformats.org/officeDocument/2006/relationships" id="281" r:id="R2ff1d40805664e84"/>
    <p:sldId xmlns:r="http://schemas.openxmlformats.org/officeDocument/2006/relationships" id="282" r:id="R27f7e066f36d4561"/>
    <p:sldId xmlns:r="http://schemas.openxmlformats.org/officeDocument/2006/relationships" id="283" r:id="R772e4963f3ee4ece"/>
    <p:sldId xmlns:r="http://schemas.openxmlformats.org/officeDocument/2006/relationships" id="284" r:id="R471ab99af6d34ef6"/>
    <p:sldId xmlns:r="http://schemas.openxmlformats.org/officeDocument/2006/relationships" id="285" r:id="R8c68e711d6b74a32"/>
    <p:sldId xmlns:r="http://schemas.openxmlformats.org/officeDocument/2006/relationships" id="286" r:id="R6dfaad2039074b3a"/>
    <p:sldId xmlns:r="http://schemas.openxmlformats.org/officeDocument/2006/relationships" id="287" r:id="R47f41c97bbbd4a23"/>
    <p:sldId xmlns:r="http://schemas.openxmlformats.org/officeDocument/2006/relationships" id="288" r:id="R888e1942e8f7402b"/>
    <p:sldId xmlns:r="http://schemas.openxmlformats.org/officeDocument/2006/relationships" id="289" r:id="R95da8851ae02411d"/>
    <p:sldId xmlns:r="http://schemas.openxmlformats.org/officeDocument/2006/relationships" id="290" r:id="R06d34d55145b45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dafb87de14b7b" /><Relationship Type="http://schemas.openxmlformats.org/officeDocument/2006/relationships/slideMaster" Target="/ppt/slideMasters/slideMaster1.xml" Id="Rf3e255c51d644090" /><Relationship Type="http://schemas.openxmlformats.org/officeDocument/2006/relationships/notesMaster" Target="/ppt/notesMasters/notesMaster1.xml" Id="Re61ead485eae4b85" /><Relationship Type="http://schemas.openxmlformats.org/officeDocument/2006/relationships/presProps" Target="/ppt/presProps.xml" Id="R524dc85f4ed64cd2" /><Relationship Type="http://schemas.openxmlformats.org/officeDocument/2006/relationships/tableStyles" Target="/ppt/tableStyles.xml" Id="R8eec7c754afa4b04" /><Relationship Type="http://schemas.openxmlformats.org/officeDocument/2006/relationships/slide" Target="/ppt/slides/slide1.xml" Id="Rabd4f469b7f74977" /><Relationship Type="http://schemas.openxmlformats.org/officeDocument/2006/relationships/slide" Target="/ppt/slides/slide2.xml" Id="Rf7f57a97cde54ea4" /><Relationship Type="http://schemas.openxmlformats.org/officeDocument/2006/relationships/slide" Target="/ppt/slides/slide3.xml" Id="Rb58ba96ae83f430e" /><Relationship Type="http://schemas.openxmlformats.org/officeDocument/2006/relationships/slide" Target="/ppt/slides/slide4.xml" Id="R1c27a7dfce264a0f" /><Relationship Type="http://schemas.openxmlformats.org/officeDocument/2006/relationships/slide" Target="/ppt/slides/slide5.xml" Id="R9ef32352994343d5" /><Relationship Type="http://schemas.openxmlformats.org/officeDocument/2006/relationships/slide" Target="/ppt/slides/slide6.xml" Id="R2db73d7c7f494acf" /><Relationship Type="http://schemas.openxmlformats.org/officeDocument/2006/relationships/slide" Target="/ppt/slides/slide7.xml" Id="R8e34e77c42ee428b" /><Relationship Type="http://schemas.openxmlformats.org/officeDocument/2006/relationships/slide" Target="/ppt/slides/slide8.xml" Id="R6da89e8e09b741af" /><Relationship Type="http://schemas.openxmlformats.org/officeDocument/2006/relationships/slide" Target="/ppt/slides/slide9.xml" Id="R229ce3aefbb14d9a" /><Relationship Type="http://schemas.openxmlformats.org/officeDocument/2006/relationships/slide" Target="/ppt/slides/slide10.xml" Id="Re739cf03937e49a9" /><Relationship Type="http://schemas.openxmlformats.org/officeDocument/2006/relationships/slide" Target="/ppt/slides/slide11.xml" Id="Rce320c7ec6694e3e" /><Relationship Type="http://schemas.openxmlformats.org/officeDocument/2006/relationships/slide" Target="/ppt/slides/slide12.xml" Id="R86bf9fc814504a7a" /><Relationship Type="http://schemas.openxmlformats.org/officeDocument/2006/relationships/slide" Target="/ppt/slides/slide13.xml" Id="R6740c1867a4441bc" /><Relationship Type="http://schemas.openxmlformats.org/officeDocument/2006/relationships/slide" Target="/ppt/slides/slide14.xml" Id="R9ece0e6c4da6409b" /><Relationship Type="http://schemas.openxmlformats.org/officeDocument/2006/relationships/slide" Target="/ppt/slides/slide15.xml" Id="Rb72af11f06614bf1" /><Relationship Type="http://schemas.openxmlformats.org/officeDocument/2006/relationships/slide" Target="/ppt/slides/slide16.xml" Id="Rca33b754bf154108" /><Relationship Type="http://schemas.openxmlformats.org/officeDocument/2006/relationships/slide" Target="/ppt/slides/slide17.xml" Id="R6991e0a5c1944390" /><Relationship Type="http://schemas.openxmlformats.org/officeDocument/2006/relationships/slide" Target="/ppt/slides/slide18.xml" Id="R51367ff2334e47fc" /><Relationship Type="http://schemas.openxmlformats.org/officeDocument/2006/relationships/slide" Target="/ppt/slides/slide19.xml" Id="Rd013994eaee6420d" /><Relationship Type="http://schemas.openxmlformats.org/officeDocument/2006/relationships/slide" Target="/ppt/slides/slide20.xml" Id="R324f9dcf9dfb4c73" /><Relationship Type="http://schemas.openxmlformats.org/officeDocument/2006/relationships/slide" Target="/ppt/slides/slide21.xml" Id="Ra885581e5ff04bef" /><Relationship Type="http://schemas.openxmlformats.org/officeDocument/2006/relationships/slide" Target="/ppt/slides/slide22.xml" Id="Rfcd7a09d8cc346b4" /><Relationship Type="http://schemas.openxmlformats.org/officeDocument/2006/relationships/slide" Target="/ppt/slides/slide23.xml" Id="R764554edd22f43a2" /><Relationship Type="http://schemas.openxmlformats.org/officeDocument/2006/relationships/slide" Target="/ppt/slides/slide24.xml" Id="Reb221a91e5c4474f" /><Relationship Type="http://schemas.openxmlformats.org/officeDocument/2006/relationships/slide" Target="/ppt/slides/slide25.xml" Id="R00df26f8f08a45a8" /><Relationship Type="http://schemas.openxmlformats.org/officeDocument/2006/relationships/slide" Target="/ppt/slides/slide26.xml" Id="R2ff1d40805664e84" /><Relationship Type="http://schemas.openxmlformats.org/officeDocument/2006/relationships/slide" Target="/ppt/slides/slide27.xml" Id="R27f7e066f36d4561" /><Relationship Type="http://schemas.openxmlformats.org/officeDocument/2006/relationships/slide" Target="/ppt/slides/slide28.xml" Id="R772e4963f3ee4ece" /><Relationship Type="http://schemas.openxmlformats.org/officeDocument/2006/relationships/slide" Target="/ppt/slides/slide29.xml" Id="R471ab99af6d34ef6" /><Relationship Type="http://schemas.openxmlformats.org/officeDocument/2006/relationships/slide" Target="/ppt/slides/slide30.xml" Id="R8c68e711d6b74a32" /><Relationship Type="http://schemas.openxmlformats.org/officeDocument/2006/relationships/slide" Target="/ppt/slides/slide31.xml" Id="R6dfaad2039074b3a" /><Relationship Type="http://schemas.openxmlformats.org/officeDocument/2006/relationships/slide" Target="/ppt/slides/slide32.xml" Id="R47f41c97bbbd4a23" /><Relationship Type="http://schemas.openxmlformats.org/officeDocument/2006/relationships/slide" Target="/ppt/slides/slide33.xml" Id="R888e1942e8f7402b" /><Relationship Type="http://schemas.openxmlformats.org/officeDocument/2006/relationships/slide" Target="/ppt/slides/slide34.xml" Id="R95da8851ae02411d" /><Relationship Type="http://schemas.openxmlformats.org/officeDocument/2006/relationships/slide" Target="/ppt/slides/slide35.xml" Id="R06d34d55145b45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d8e4a85cf9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75aa8273042bd" /><Relationship Type="http://schemas.openxmlformats.org/officeDocument/2006/relationships/notesMaster" Target="/ppt/notesMasters/notesMaster1.xml" Id="R93dc81bd9c1a4e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a7080098d460b" /><Relationship Type="http://schemas.openxmlformats.org/officeDocument/2006/relationships/notesMaster" Target="/ppt/notesMasters/notesMaster1.xml" Id="Rc6b6c376af754b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0466a4fd0e4a42" /><Relationship Type="http://schemas.openxmlformats.org/officeDocument/2006/relationships/notesMaster" Target="/ppt/notesMasters/notesMaster1.xml" Id="R3eb3143beb5b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a59f333b74c35" /><Relationship Type="http://schemas.openxmlformats.org/officeDocument/2006/relationships/notesMaster" Target="/ppt/notesMasters/notesMaster1.xml" Id="R89e6fbb2df5f46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a55ab6cd0840e7" /><Relationship Type="http://schemas.openxmlformats.org/officeDocument/2006/relationships/notesMaster" Target="/ppt/notesMasters/notesMaster1.xml" Id="R84698b0bcb5e48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9ff29106904a58" /><Relationship Type="http://schemas.openxmlformats.org/officeDocument/2006/relationships/notesMaster" Target="/ppt/notesMasters/notesMaster1.xml" Id="R09784dd864db40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09a17eed424323" /><Relationship Type="http://schemas.openxmlformats.org/officeDocument/2006/relationships/notesMaster" Target="/ppt/notesMasters/notesMaster1.xml" Id="R00b0691a8b4641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171795060b4add" /><Relationship Type="http://schemas.openxmlformats.org/officeDocument/2006/relationships/notesMaster" Target="/ppt/notesMasters/notesMaster1.xml" Id="R2998641d03cb4b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4f582ee91446f" /><Relationship Type="http://schemas.openxmlformats.org/officeDocument/2006/relationships/notesMaster" Target="/ppt/notesMasters/notesMaster1.xml" Id="R9a5053b1f41f4a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2851a72b194b77" /><Relationship Type="http://schemas.openxmlformats.org/officeDocument/2006/relationships/notesMaster" Target="/ppt/notesMasters/notesMaster1.xml" Id="R6ebcb4b64fb243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56be80b6444188" /><Relationship Type="http://schemas.openxmlformats.org/officeDocument/2006/relationships/notesMaster" Target="/ppt/notesMasters/notesMaster1.xml" Id="R62bb61f1807148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f67885ce944058" /><Relationship Type="http://schemas.openxmlformats.org/officeDocument/2006/relationships/notesMaster" Target="/ppt/notesMasters/notesMaster1.xml" Id="R5a0e356d431e4d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a1fbd8a6a46a4" /><Relationship Type="http://schemas.openxmlformats.org/officeDocument/2006/relationships/notesMaster" Target="/ppt/notesMasters/notesMaster1.xml" Id="R6a3985d048cc46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4b1ac91d854fd2" /><Relationship Type="http://schemas.openxmlformats.org/officeDocument/2006/relationships/notesMaster" Target="/ppt/notesMasters/notesMaster1.xml" Id="Ra28142c71f0348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ce945bb7d742f9" /><Relationship Type="http://schemas.openxmlformats.org/officeDocument/2006/relationships/notesMaster" Target="/ppt/notesMasters/notesMaster1.xml" Id="R9451eb8eed3445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a342a0760e416c" /><Relationship Type="http://schemas.openxmlformats.org/officeDocument/2006/relationships/notesMaster" Target="/ppt/notesMasters/notesMaster1.xml" Id="R1f485a99467144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94f7d14c1448fe" /><Relationship Type="http://schemas.openxmlformats.org/officeDocument/2006/relationships/notesMaster" Target="/ppt/notesMasters/notesMaster1.xml" Id="R6646ac8849c04c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c9eb8c43f14396" /><Relationship Type="http://schemas.openxmlformats.org/officeDocument/2006/relationships/notesMaster" Target="/ppt/notesMasters/notesMaster1.xml" Id="Rbcae66b4cf694b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f00d4841054be9" /><Relationship Type="http://schemas.openxmlformats.org/officeDocument/2006/relationships/notesMaster" Target="/ppt/notesMasters/notesMaster1.xml" Id="R1ff66ca68eee43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b686aea6f642ab" /><Relationship Type="http://schemas.openxmlformats.org/officeDocument/2006/relationships/notesMaster" Target="/ppt/notesMasters/notesMaster1.xml" Id="R9aa05b5ecd0241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9154f0022647e8" /><Relationship Type="http://schemas.openxmlformats.org/officeDocument/2006/relationships/notesMaster" Target="/ppt/notesMasters/notesMaster1.xml" Id="Rc348fbce79444e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64589594614567" /><Relationship Type="http://schemas.openxmlformats.org/officeDocument/2006/relationships/notesMaster" Target="/ppt/notesMasters/notesMaster1.xml" Id="R9d16c9c0a6ca48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95b6ebdb354570" /><Relationship Type="http://schemas.openxmlformats.org/officeDocument/2006/relationships/notesMaster" Target="/ppt/notesMasters/notesMaster1.xml" Id="Recc660baa9a245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eee9b3939c4ffc" /><Relationship Type="http://schemas.openxmlformats.org/officeDocument/2006/relationships/notesMaster" Target="/ppt/notesMasters/notesMaster1.xml" Id="R9026959020cf42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9212d71116477f" /><Relationship Type="http://schemas.openxmlformats.org/officeDocument/2006/relationships/notesMaster" Target="/ppt/notesMasters/notesMaster1.xml" Id="Ra0bf0b1bca1a4e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80fdd2fd354ff3" /><Relationship Type="http://schemas.openxmlformats.org/officeDocument/2006/relationships/notesMaster" Target="/ppt/notesMasters/notesMaster1.xml" Id="R8220c7804dc7446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9bf24005f64b77" /><Relationship Type="http://schemas.openxmlformats.org/officeDocument/2006/relationships/notesMaster" Target="/ppt/notesMasters/notesMaster1.xml" Id="Rc5a4590f385b416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f2f065aa2740f6" /><Relationship Type="http://schemas.openxmlformats.org/officeDocument/2006/relationships/notesMaster" Target="/ppt/notesMasters/notesMaster1.xml" Id="Rd44010fac76c4c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985bad0ab89463d" /><Relationship Type="http://schemas.openxmlformats.org/officeDocument/2006/relationships/notesMaster" Target="/ppt/notesMasters/notesMaster1.xml" Id="Raf4dba62e04b4a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5eeb4a51ed499d" /><Relationship Type="http://schemas.openxmlformats.org/officeDocument/2006/relationships/notesMaster" Target="/ppt/notesMasters/notesMaster1.xml" Id="R66ea00a828314d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b03add04384cc5" /><Relationship Type="http://schemas.openxmlformats.org/officeDocument/2006/relationships/notesMaster" Target="/ppt/notesMasters/notesMaster1.xml" Id="Rcff328d9ee8b43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7f2ed8a0c334809" /><Relationship Type="http://schemas.openxmlformats.org/officeDocument/2006/relationships/notesMaster" Target="/ppt/notesMasters/notesMaster1.xml" Id="Rec3026c479324d3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af0ea4cfb714e1a" /><Relationship Type="http://schemas.openxmlformats.org/officeDocument/2006/relationships/notesMaster" Target="/ppt/notesMasters/notesMaster1.xml" Id="R6a2a58b4473c46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5f8be1c8a04a09" /><Relationship Type="http://schemas.openxmlformats.org/officeDocument/2006/relationships/notesMaster" Target="/ppt/notesMasters/notesMaster1.xml" Id="R2a1c2e8681ab4d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7e8e7406bcd44b9" /><Relationship Type="http://schemas.openxmlformats.org/officeDocument/2006/relationships/notesMaster" Target="/ppt/notesMasters/notesMaster1.xml" Id="Rae67e1e3d39642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最重要的一句话：项目复现了 RouteLLM，并增加分层资源感知路由。。指着标题和右侧四个关键词讲。姓名与小组信息快速带过。下一页进入项目背景。建议用时约10秒。讲解时只解释图中的因果关系，不逐字朗读页面。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最重要的一句话：项目先复现官方 RouteLLM，再分析 strong 与 weak 路由的局限，最后增加分层资源感知能力。。指着三阶段主线讲。具体模块名称快速带过。下一页介绍论文与项目背景。建议用时约25秒。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最重要的一句话：RouteLLM 先于 2024 年公开 arXiv 版本，并作为会议论文发表于 ICLR 2025。指着发表信息和官方目标讲。作者列表快速带过。下一页解释官方流程。建议用时约25秒。来源：https://proceedings.iclr.cc/paper_files/paper/2025/hash/5503a7c69d48a2f86fc00b3dc09de686-Abstract-Conference.html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最重要的一句话：官方 RouteLLM 的决策对象是 Model，不包含执行节点。。指着从 Query 到 Response 的流程讲。不同 router 的训练细节快速带过。下一页展示真实最小复现。建议用时约30秒。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最重要的一句话：我们真实调用官方 Controller 和官方 RandomRouter，离线完成 score 与 strong 或 weak model selection。。指着右侧真实运行证据讲。外部模型响应快速带过。下一页从复现进入局限分析。建议用时约30秒。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最重要的一句话：官方框架聚焦 strong 与 weak 模型选择，没有建模多模型候选、执行节点和实时资源状态。。指着四行对比表讲。其余实现细节快速带过。下一页进入 Before 和 After 对比。建议用时约25秒。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最重要的一句话：我们从已复现的官方 baseline 出发，增加多模型候选、质量约束和资源调度。。指着三栏框架演进图讲。每个节点的实现细节快速带过。下一页展开完整两层框架。建议用时约50秒。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两层分别解决不同问题，质量约束位于两层之间。。指着紫色第一层和青色第二层边界讲。日志字段和模块文件名快速带过。下一页说明第一层内部。建议用时约50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最重要的一句话：第一层输出模型候选集合，不决定执行节点。。指着从左到右的特征、预测和排序讲。actual quality 的完整公式快速带过。下一页引出质量阈值。建议用时约35秒。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最重要的一句话：q_min 是分层方法与软联合打分的关键区别。。指着质量阈值判断和 fallback 路径讲。具体噪声公式快速带过。下一页说明第二层调度。建议用时约30秒。讲解时只解释图中的因果关系，不逐字朗读页面。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第二层只在可运行且质量合格的候选中比较资源代价。。指着左侧五步流程和右侧公式讲。每个归一化常数快速带过。下一页解释为何仍需分层。建议用时约45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两层结构先保证候选能完成任务，再优化执行位置。。指着左右两种决策结构讲。权重调参细节快速带过。下一页进入四种策略比较。建议用时约50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最重要的一句话：Capability Only 是为模拟实验设计的对照策略，不等价于官方 RouteLLM Router。。指着第一行脚注和最后一行讲。节点选择实现快速带过。下一页进入实验环境。建议用时约25秒。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最重要的一句话：实验使用确定性云边模拟，不是真实部署，四种策略共享同一请求轨迹。。指着云边拓扑、三种负载和底部实验规模讲。详细到达间隔快速带过。下一页进入评价指标。建议用时约25秒。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最重要的一句话：实验评价不只看延迟，还要检查质量底线和节点分配。。指着五类指标讲。median 和 max 等附录细节快速带过。下一页进入延迟结果。建议用时约20秒。讲解时只解释图中的因果关系，不逐字朗读页面。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最重要的一句话：高负载时 Capability Only 平均延迟 6897 毫秒，Hierarchical 为 975 毫秒。。指着高负载的两根柱和右侧数字讲。低负载的小差异快速带过。下一页转到质量代价。建议用时约40秒。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最重要的一句话：Capability Only 平均质量最高，Resource Only 高负载质量违约率为 46.6%，Hierarchical 当前观察到 0%。。指着左侧质量和右侧违约率图讲。小数点后的细微差异快速带过。下一页查看高负载全指标。建议用时约40秒。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最重要的一句话：四种方法各有优势，Hierarchical 在当前模拟环境和质量约束下获得更均衡的 quality-resource trade-off。。指着四行策略和质量违约列讲。标准差等附录指标快速带过。下一页进入可视化 Demo。建议用时约45秒。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最重要的一句话：现场先展示 Official RouteLLM 的模型选择，再切换到 Hierarchical Router 展示 model 与 node 联合决策。。指着左右双模式和底部真实案例讲。Technical Details 折叠区快速带过。下一页切换到现场 Visual Demo。建议用时约20秒。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当前质量信号、云边环境和权重都来自模拟配置，不能外推为真实部署性能。。指着五项局限和底部结论讲。实现细节快速带过。下一页说明下一步真实系统路径。建议用时约25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最重要的一句话：当前课堂项目可以继续发展为期末项目，关键是逐步替换 synthetic quality、simulation monitor 和 simulated endpoints。。指着从左到右的真实系统路线讲。具体采集工具快速带过。下一页收束三阶段总结。建议用时约25秒。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最重要的一句话：项目完成官方 baseline 最小复现，在其上增加分层资源感知路由，并用 60 次实验验证策略行为。。指着三个阶段和底部两层问题讲。附录细节快速带过。下一页结束并进入问答。建议用时约25秒。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最重要的一句话：源码结构用于回答实现位置问题。。指着左右目录列表讲。主讲时不展开快速带过。下一页按答辩问题跳转。建议用时约0秒。讲解时只解释图中的因果关系，不逐字朗读页面。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最重要的一句话：运行入口均位于 RouteLLM-hierarchical 目录。。指着五条命令讲。环境准备细节快速带过。下一页按答辩问题跳转。建议用时约0秒。讲解时只解释图中的因果关系，不逐字朗读页面。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最重要的一句话：actual_quality 不向路由阶段暴露。。指着公式和四个组成量讲。参数推导细节快速带过。下一页按答辩问题跳转。建议用时约0秒。讲解时只解释图中的因果关系，不逐字朗读页面。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最重要的一句话：predicted_quality 与 actual_quality 不完全相同。。指着中心公式和 SHA256 输入讲。哈希实现细节快速带过。下一页按答辩问题跳转。建议用时约0秒。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最重要的一句话：三种负载通过 arrival gap 控制。。指着参数表和共享 trace 说明讲。服务率公式快速带过。下一页按答辩问题跳转。建议用时约0秒。讲解时只解释图中的因果关系，不逐字朗读页面。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最重要的一句话：默认权重体现质量优先，其次考虑延迟和负载。。指着参数表讲。调参过程快速带过。下一页按答辩问题跳转。建议用时约0秒。讲解时只解释图中的因果关系，不逐字朗读页面。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最重要的一句话：默认 top_k 为 2，q_min 为 0.70。。指着两个参数和 fallback 行为讲。其他 YAML 字段快速带过。下一页按答辩问题跳转。建议用时约0秒。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测试覆盖排序、约束、资源切换、官方路径、双模式场景和复现性。。指着八个验收点讲。每个测试函数名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最重要的一句话：消融接口已经存在，但当前未自动跑完整矩阵。。指着四行开关表讲。尚未产生的结果快速带过。下一页按答辩问题跳转。建议用时约0秒。讲解时只解释图中的因果关系，不逐字朗读页面。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最重要的一句话：cloud ratio 直接反映节点分配。。指着三组负载柱状图讲。重复主讲结论快速带过。下一页按答辩问题跳转。建议用时约0秒。讲解时只解释图中的因果关系，不逐字朗读页面。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最重要的一句话：散点图展示质量和延迟的共同关系。。指着四个策略点讲。帕累托理论细节快速带过。下一页按答辩问题跳转。建议用时约0秒。讲解时只解释图中的因果关系，不逐字朗读页面。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最重要的一句话：主讲只选五类指标，完整结果仍保留。。指着指标分类表讲。逐个字段定义快速带过。下一页按答辩问题跳转。建议用时约0秒。讲解时只解释图中的因果关系，不逐字朗读页面。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最重要的一句话：实验结果没有写死在 PPT 中，源文件可直接复核。。指着三个文件及行数讲。字段示例快速带过。下一页结束附录。建议用时约0秒。讲解时只解释图中的因果关系，不逐字朗读页面。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fe42e5c09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c37bb48b54362" /><Relationship Type="http://schemas.openxmlformats.org/officeDocument/2006/relationships/slideLayout" Target="/ppt/slideLayouts/slideLayout1.xml" Id="R501363511b8e40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363511b8e40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b2cd8c6db4767" /><Relationship Type="http://schemas.openxmlformats.org/officeDocument/2006/relationships/notesSlide" Target="/ppt/notesSlides/notesSlide1.xml" Id="R9ce1afc8393d44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4d80892cc4c28" /><Relationship Type="http://schemas.openxmlformats.org/officeDocument/2006/relationships/notesSlide" Target="/ppt/notesSlides/notesSlide2.xml" Id="R2db5ac8d5e2f43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115c9431f40e1" /><Relationship Type="http://schemas.openxmlformats.org/officeDocument/2006/relationships/notesSlide" Target="/ppt/notesSlides/notesSlide3.xml" Id="R7d1a72bd62bb42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4f34731cb4572" /><Relationship Type="http://schemas.openxmlformats.org/officeDocument/2006/relationships/notesSlide" Target="/ppt/notesSlides/notesSlide4.xml" Id="R0cb4ed10344a4c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d93ff4d7c4a8e" /><Relationship Type="http://schemas.openxmlformats.org/officeDocument/2006/relationships/notesSlide" Target="/ppt/notesSlides/notesSlide5.xml" Id="R3aefe8781de242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1e286fd3e457d" /><Relationship Type="http://schemas.openxmlformats.org/officeDocument/2006/relationships/notesSlide" Target="/ppt/notesSlides/notesSlide6.xml" Id="R6ff97068a055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4284646e24765" /><Relationship Type="http://schemas.openxmlformats.org/officeDocument/2006/relationships/notesSlide" Target="/ppt/notesSlides/notesSlide7.xml" Id="R0a3a233a67b5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3ab7161984b3f" /><Relationship Type="http://schemas.openxmlformats.org/officeDocument/2006/relationships/notesSlide" Target="/ppt/notesSlides/notesSlide8.xml" Id="Rf5e119a30439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f6cabd5ad4a77" /><Relationship Type="http://schemas.openxmlformats.org/officeDocument/2006/relationships/notesSlide" Target="/ppt/notesSlides/notesSlide9.xml" Id="Re272a8098387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8fced319d401e" /><Relationship Type="http://schemas.openxmlformats.org/officeDocument/2006/relationships/notesSlide" Target="/ppt/notesSlides/notesSlide10.xml" Id="R523744715bdb44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a0ae116c14992" /><Relationship Type="http://schemas.openxmlformats.org/officeDocument/2006/relationships/notesSlide" Target="/ppt/notesSlides/notesSlide11.xml" Id="Rd2ccb1f30c4b40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8f9350fdb4100" /><Relationship Type="http://schemas.openxmlformats.org/officeDocument/2006/relationships/notesSlide" Target="/ppt/notesSlides/notesSlide12.xml" Id="Rd96a5859453844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669e06d9d41d1" /><Relationship Type="http://schemas.openxmlformats.org/officeDocument/2006/relationships/notesSlide" Target="/ppt/notesSlides/notesSlide13.xml" Id="Rc5d65814c67d43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1fa5c9f374a37" /><Relationship Type="http://schemas.openxmlformats.org/officeDocument/2006/relationships/notesSlide" Target="/ppt/notesSlides/notesSlide14.xml" Id="Rb92323cfc16f43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2cb81cf24fdc" /><Relationship Type="http://schemas.openxmlformats.org/officeDocument/2006/relationships/notesSlide" Target="/ppt/notesSlides/notesSlide15.xml" Id="R370682e62b6040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777c015d1405f" /><Relationship Type="http://schemas.openxmlformats.org/officeDocument/2006/relationships/chart" Target="/ppt/slides/charts/chart1.xml" Id="R683254def83246a1" /><Relationship Type="http://schemas.openxmlformats.org/officeDocument/2006/relationships/notesSlide" Target="/ppt/notesSlides/notesSlide16.xml" Id="R956ab78349df46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bcf64a3d41f5" /><Relationship Type="http://schemas.openxmlformats.org/officeDocument/2006/relationships/chart" Target="/ppt/slides/charts/chart2.xml" Id="R83ad58eabbbe4277" /><Relationship Type="http://schemas.openxmlformats.org/officeDocument/2006/relationships/chart" Target="/ppt/slides/charts/chart3.xml" Id="R5e03835e285d4892" /><Relationship Type="http://schemas.openxmlformats.org/officeDocument/2006/relationships/notesSlide" Target="/ppt/notesSlides/notesSlide17.xml" Id="Rb11d331e8ed047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0c1ba80a54518" /><Relationship Type="http://schemas.openxmlformats.org/officeDocument/2006/relationships/notesSlide" Target="/ppt/notesSlides/notesSlide18.xml" Id="Rec5eacecda1444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a17f86724f0f" /><Relationship Type="http://schemas.openxmlformats.org/officeDocument/2006/relationships/notesSlide" Target="/ppt/notesSlides/notesSlide19.xml" Id="R15027b2f64524c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a5d7320904c7b" /><Relationship Type="http://schemas.openxmlformats.org/officeDocument/2006/relationships/notesSlide" Target="/ppt/notesSlides/notesSlide20.xml" Id="R0b912406ab3343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3752121054f39" /><Relationship Type="http://schemas.openxmlformats.org/officeDocument/2006/relationships/notesSlide" Target="/ppt/notesSlides/notesSlide21.xml" Id="Rc9512091da1e4a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9a7e476c04592" /><Relationship Type="http://schemas.openxmlformats.org/officeDocument/2006/relationships/notesSlide" Target="/ppt/notesSlides/notesSlide22.xml" Id="Red6208b4d4f04c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0b82c3b2d40de" /><Relationship Type="http://schemas.openxmlformats.org/officeDocument/2006/relationships/notesSlide" Target="/ppt/notesSlides/notesSlide23.xml" Id="Rc2fb00cd5c2340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d0c2de75e44f9" /><Relationship Type="http://schemas.openxmlformats.org/officeDocument/2006/relationships/notesSlide" Target="/ppt/notesSlides/notesSlide24.xml" Id="Rb1b0d29aac9c4a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f9f6e84f84fd8" /><Relationship Type="http://schemas.openxmlformats.org/officeDocument/2006/relationships/notesSlide" Target="/ppt/notesSlides/notesSlide25.xml" Id="R127195d08fcc4c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892c767174dea" /><Relationship Type="http://schemas.openxmlformats.org/officeDocument/2006/relationships/notesSlide" Target="/ppt/notesSlides/notesSlide26.xml" Id="R3678e1d497f64d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427c637e4aba" /><Relationship Type="http://schemas.openxmlformats.org/officeDocument/2006/relationships/notesSlide" Target="/ppt/notesSlides/notesSlide27.xml" Id="Rfec27d76ab82430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5943c3a44dff" /><Relationship Type="http://schemas.openxmlformats.org/officeDocument/2006/relationships/notesSlide" Target="/ppt/notesSlides/notesSlide28.xml" Id="R248f17ea300347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3f9b9004b4303" /><Relationship Type="http://schemas.openxmlformats.org/officeDocument/2006/relationships/notesSlide" Target="/ppt/notesSlides/notesSlide29.xml" Id="R81991443ed6646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425ed38664d0e" /><Relationship Type="http://schemas.openxmlformats.org/officeDocument/2006/relationships/notesSlide" Target="/ppt/notesSlides/notesSlide30.xml" Id="Rae06c60c286b45a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bff75a904f85" /><Relationship Type="http://schemas.openxmlformats.org/officeDocument/2006/relationships/notesSlide" Target="/ppt/notesSlides/notesSlide31.xml" Id="R01af747a60af45b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129513d894eae" /><Relationship Type="http://schemas.openxmlformats.org/officeDocument/2006/relationships/chart" Target="/ppt/slides/charts/chart4.xml" Id="R12e89a0bcd3b47b0" /><Relationship Type="http://schemas.openxmlformats.org/officeDocument/2006/relationships/notesSlide" Target="/ppt/notesSlides/notesSlide32.xml" Id="Rf93759a1788141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51d3aeab4294" /><Relationship Type="http://schemas.openxmlformats.org/officeDocument/2006/relationships/chart" Target="/ppt/slides/charts/chart5.xml" Id="Rd8b5eaf282064b07" /><Relationship Type="http://schemas.openxmlformats.org/officeDocument/2006/relationships/notesSlide" Target="/ppt/notesSlides/notesSlide33.xml" Id="Rac087fe5a9c0493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54c3d5c748c7" /><Relationship Type="http://schemas.openxmlformats.org/officeDocument/2006/relationships/notesSlide" Target="/ppt/notesSlides/notesSlide34.xml" Id="Rbee13b6c892141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0578750504ad0" /><Relationship Type="http://schemas.openxmlformats.org/officeDocument/2006/relationships/notesSlide" Target="/ppt/notesSlides/notesSlide35.xml" Id="Ra755602d6468495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Capability Only</c:v>
          </c:tx>
          <c:spPr>
            <a:solidFill xmlns:a="http://schemas.openxmlformats.org/drawingml/2006/main">
              <a:srgbClr val="2F66E8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</c:formatCode>
              <c:ptCount val="3"/>
              <c:pt idx="0">
                <c:v>444.265887</c:v>
              </c:pt>
              <c:pt idx="1">
                <c:v>4041.058438</c:v>
              </c:pt>
              <c:pt idx="2">
                <c:v>6897.380794</c:v>
              </c:pt>
            </c:numLit>
          </c:val>
        </c:ser>
        <c:ser>
          <c:idx val="1"/>
          <c:order val="1"/>
          <c:tx>
            <c:v>Resource Only</c:v>
          </c:tx>
          <c:spPr>
            <a:solidFill xmlns:a="http://schemas.openxmlformats.org/drawingml/2006/main">
              <a:srgbClr val="17B4A6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</c:formatCode>
              <c:ptCount val="3"/>
              <c:pt idx="0">
                <c:v>173.964311</c:v>
              </c:pt>
              <c:pt idx="1">
                <c:v>186.649113</c:v>
              </c:pt>
              <c:pt idx="2">
                <c:v>886.737968</c:v>
              </c:pt>
            </c:numLit>
          </c:val>
        </c:ser>
        <c:ser>
          <c:idx val="2"/>
          <c:order val="2"/>
          <c:tx>
            <c:v>Joint Single Stage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</c:formatCode>
              <c:ptCount val="3"/>
              <c:pt idx="0">
                <c:v>272.747757</c:v>
              </c:pt>
              <c:pt idx="1">
                <c:v>285.646782</c:v>
              </c:pt>
              <c:pt idx="2">
                <c:v>915.158028</c:v>
              </c:pt>
            </c:numLit>
          </c:val>
        </c:ser>
        <c:ser>
          <c:idx val="3"/>
          <c:order val="3"/>
          <c:tx>
            <c:v>Hierarchical</c:v>
          </c:tx>
          <c:spPr>
            <a:solidFill xmlns:a="http://schemas.openxmlformats.org/drawingml/2006/main">
              <a:srgbClr val="7C35ED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</c:formatCode>
              <c:ptCount val="3"/>
              <c:pt idx="0">
                <c:v>315.237938</c:v>
              </c:pt>
              <c:pt idx="1">
                <c:v>325.538284</c:v>
              </c:pt>
              <c:pt idx="2">
                <c:v>975.471643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44B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毫秒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  <a:ln xmlns:a="http://schemas.openxmlformats.org/drawingml/2006/main" w="0">
      <a:solidFill>
        <a:srgbClr val="F5F7FB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Capability Only</c:v>
          </c:tx>
          <c:spPr>
            <a:solidFill xmlns:a="http://schemas.openxmlformats.org/drawingml/2006/main">
              <a:srgbClr val="2F66E8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0.00</c:formatCode>
              <c:ptCount val="3"/>
              <c:pt idx="0">
                <c:v>0.857062</c:v>
              </c:pt>
              <c:pt idx="1">
                <c:v>0.857372</c:v>
              </c:pt>
              <c:pt idx="2">
                <c:v>0.854072</c:v>
              </c:pt>
            </c:numLit>
          </c:val>
        </c:ser>
        <c:ser>
          <c:idx val="1"/>
          <c:order val="1"/>
          <c:tx>
            <c:v>Resource Only</c:v>
          </c:tx>
          <c:spPr>
            <a:solidFill xmlns:a="http://schemas.openxmlformats.org/drawingml/2006/main">
              <a:srgbClr val="17B4A6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0.00</c:formatCode>
              <c:ptCount val="3"/>
              <c:pt idx="0">
                <c:v>0.632022</c:v>
              </c:pt>
              <c:pt idx="1">
                <c:v>0.630502</c:v>
              </c:pt>
              <c:pt idx="2">
                <c:v>0.675813</c:v>
              </c:pt>
            </c:numLit>
          </c:val>
        </c:ser>
        <c:ser>
          <c:idx val="2"/>
          <c:order val="2"/>
          <c:tx>
            <c:v>Joint Single Stage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0.00</c:formatCode>
              <c:ptCount val="3"/>
              <c:pt idx="0">
                <c:v>0.754816</c:v>
              </c:pt>
              <c:pt idx="1">
                <c:v>0.758</c:v>
              </c:pt>
              <c:pt idx="2">
                <c:v>0.747561</c:v>
              </c:pt>
            </c:numLit>
          </c:val>
        </c:ser>
        <c:ser>
          <c:idx val="3"/>
          <c:order val="3"/>
          <c:tx>
            <c:v>Hierarchical</c:v>
          </c:tx>
          <c:spPr>
            <a:solidFill xmlns:a="http://schemas.openxmlformats.org/drawingml/2006/main">
              <a:srgbClr val="7C35ED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0.00</c:formatCode>
              <c:ptCount val="3"/>
              <c:pt idx="0">
                <c:v>0.78102</c:v>
              </c:pt>
              <c:pt idx="1">
                <c:v>0.783701</c:v>
              </c:pt>
              <c:pt idx="2">
                <c:v>0.781267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44B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5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Mean Quality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  <a:ln xmlns:a="http://schemas.openxmlformats.org/drawingml/2006/main" w="0">
      <a:solidFill>
        <a:srgbClr val="F5F7FB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Capability Only</c:v>
          </c:tx>
          <c:spPr>
            <a:solidFill xmlns:a="http://schemas.openxmlformats.org/drawingml/2006/main">
              <a:srgbClr val="2F66E8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Resource Only</c:v>
          </c:tx>
          <c:spPr>
            <a:solidFill xmlns:a="http://schemas.openxmlformats.org/drawingml/2006/main">
              <a:srgbClr val="17B4A6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0.749333</c:v>
              </c:pt>
              <c:pt idx="1">
                <c:v>0.765333</c:v>
              </c:pt>
              <c:pt idx="2">
                <c:v>0.466</c:v>
              </c:pt>
            </c:numLit>
          </c:val>
        </c:ser>
        <c:ser>
          <c:idx val="2"/>
          <c:order val="2"/>
          <c:tx>
            <c:v>Joint Single Stage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0.129333</c:v>
              </c:pt>
              <c:pt idx="1">
                <c:v>0.125333</c:v>
              </c:pt>
              <c:pt idx="2">
                <c:v>0.186667</c:v>
              </c:pt>
            </c:numLit>
          </c:val>
        </c:ser>
        <c:ser>
          <c:idx val="3"/>
          <c:order val="3"/>
          <c:tx>
            <c:v>Hierarchical</c:v>
          </c:tx>
          <c:spPr>
            <a:solidFill xmlns:a="http://schemas.openxmlformats.org/drawingml/2006/main">
              <a:srgbClr val="7C35ED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44B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Q-Violation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  <a:ln xmlns:a="http://schemas.openxmlformats.org/drawingml/2006/main" w="0">
      <a:solidFill>
        <a:srgbClr val="F5F7FB"/>
      </a:solidFill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Capability Only</c:v>
          </c:tx>
          <c:spPr>
            <a:solidFill xmlns:a="http://schemas.openxmlformats.org/drawingml/2006/main">
              <a:srgbClr val="2F66E8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</c:ser>
        <c:ser>
          <c:idx val="1"/>
          <c:order val="1"/>
          <c:tx>
            <c:v>Resource Only</c:v>
          </c:tx>
          <c:spPr>
            <a:solidFill xmlns:a="http://schemas.openxmlformats.org/drawingml/2006/main">
              <a:srgbClr val="17B4A6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</c:v>
              </c:pt>
              <c:pt idx="2">
                <c:v>0.362666</c:v>
              </c:pt>
            </c:numLit>
          </c:val>
        </c:ser>
        <c:ser>
          <c:idx val="2"/>
          <c:order val="2"/>
          <c:tx>
            <c:v>Joint Single Stage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0.151333</c:v>
              </c:pt>
              <c:pt idx="1">
                <c:v>0.163333</c:v>
              </c:pt>
              <c:pt idx="2">
                <c:v>0.368</c:v>
              </c:pt>
            </c:numLit>
          </c:val>
        </c:ser>
        <c:ser>
          <c:idx val="3"/>
          <c:order val="3"/>
          <c:tx>
            <c:v>Hierarchical</c:v>
          </c:tx>
          <c:spPr>
            <a:solidFill xmlns:a="http://schemas.openxmlformats.org/drawingml/2006/main">
              <a:srgbClr val="7C35ED"/>
            </a:solidFill>
          </c:spPr>
          <c:cat>
            <c:strLit>
              <c:ptCount val="3"/>
              <c:pt idx="0">
                <c:v>低负载</c:v>
              </c:pt>
              <c:pt idx="1">
                <c:v>中负载</c:v>
              </c:pt>
              <c:pt idx="2">
                <c:v>高负载</c:v>
              </c:pt>
            </c:strLit>
          </c:cat>
          <c:val>
            <c:numLit>
              <c:formatCode>0%</c:formatCode>
              <c:ptCount val="3"/>
              <c:pt idx="0">
                <c:v>0.184</c:v>
              </c:pt>
              <c:pt idx="1">
                <c:v>0.195333</c:v>
              </c:pt>
              <c:pt idx="2">
                <c:v>0.369333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44B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Cloud Ratio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  <a:ln xmlns:a="http://schemas.openxmlformats.org/drawingml/2006/main" w="0">
      <a:solidFill>
        <a:srgbClr val="F5F7FB"/>
      </a:solidFill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Capability Only</c:v>
          </c:tx>
          <c:spPr>
            <a:ln xmlns:a="http://schemas.openxmlformats.org/drawingml/2006/main" w="19050">
              <a:solidFill>
                <a:srgbClr val="2F66E8"/>
              </a:solidFill>
            </a:ln>
          </c:spPr>
          <c:marker>
            <c:symbol val="circle"/>
            <c:size val="12"/>
            <c:spPr>
              <a:solidFill xmlns:a="http://schemas.openxmlformats.org/drawingml/2006/main">
                <a:srgbClr val="2F66E8"/>
              </a:solidFill>
            </c:spPr>
          </c:marker>
          <c:xVal>
            <c:numLit>
              <c:formatCode>General</c:formatCode>
              <c:ptCount val="1"/>
              <c:pt idx="0">
                <c:v>6897.380794</c:v>
              </c:pt>
            </c:numLit>
          </c:xVal>
          <c:yVal>
            <c:numLit>
              <c:formatCode>0.00</c:formatCode>
              <c:ptCount val="1"/>
              <c:pt idx="0">
                <c:v>0.854072</c:v>
              </c:pt>
            </c:numLit>
          </c:yVal>
        </c:ser>
        <c:ser>
          <c:idx val="1"/>
          <c:order val="1"/>
          <c:tx>
            <c:v>Resource Only</c:v>
          </c:tx>
          <c:spPr>
            <a:ln xmlns:a="http://schemas.openxmlformats.org/drawingml/2006/main" w="19050">
              <a:solidFill>
                <a:srgbClr val="17B4A6"/>
              </a:solidFill>
            </a:ln>
          </c:spPr>
          <c:marker>
            <c:symbol val="circle"/>
            <c:size val="12"/>
            <c:spPr>
              <a:solidFill xmlns:a="http://schemas.openxmlformats.org/drawingml/2006/main">
                <a:srgbClr val="17B4A6"/>
              </a:solidFill>
            </c:spPr>
          </c:marker>
          <c:xVal>
            <c:numLit>
              <c:formatCode>General</c:formatCode>
              <c:ptCount val="1"/>
              <c:pt idx="0">
                <c:v>886.737968</c:v>
              </c:pt>
            </c:numLit>
          </c:xVal>
          <c:yVal>
            <c:numLit>
              <c:formatCode>0.00</c:formatCode>
              <c:ptCount val="1"/>
              <c:pt idx="0">
                <c:v>0.675813</c:v>
              </c:pt>
            </c:numLit>
          </c:yVal>
        </c:ser>
        <c:ser>
          <c:idx val="2"/>
          <c:order val="2"/>
          <c:tx>
            <c:v>Joint Single Stage</c:v>
          </c:tx>
          <c:spPr>
            <a:ln xmlns:a="http://schemas.openxmlformats.org/drawingml/2006/main" w="19050">
              <a:solidFill>
                <a:srgbClr val="F59E0B"/>
              </a:solidFill>
            </a:ln>
          </c:spPr>
          <c:marker>
            <c:symbol val="circle"/>
            <c:size val="12"/>
            <c:spPr>
              <a:solidFill xmlns:a="http://schemas.openxmlformats.org/drawingml/2006/main">
                <a:srgbClr val="F59E0B"/>
              </a:solidFill>
            </c:spPr>
          </c:marker>
          <c:xVal>
            <c:numLit>
              <c:formatCode>General</c:formatCode>
              <c:ptCount val="1"/>
              <c:pt idx="0">
                <c:v>915.158028</c:v>
              </c:pt>
            </c:numLit>
          </c:xVal>
          <c:yVal>
            <c:numLit>
              <c:formatCode>0.00</c:formatCode>
              <c:ptCount val="1"/>
              <c:pt idx="0">
                <c:v>0.747561</c:v>
              </c:pt>
            </c:numLit>
          </c:yVal>
        </c:ser>
        <c:ser>
          <c:idx val="3"/>
          <c:order val="3"/>
          <c:tx>
            <c:v>Hierarchical</c:v>
          </c:tx>
          <c:spPr>
            <a:ln xmlns:a="http://schemas.openxmlformats.org/drawingml/2006/main" w="19050">
              <a:solidFill>
                <a:srgbClr val="7C35ED"/>
              </a:solidFill>
            </a:ln>
          </c:spPr>
          <c:marker>
            <c:symbol val="circle"/>
            <c:size val="12"/>
            <c:spPr>
              <a:solidFill xmlns:a="http://schemas.openxmlformats.org/drawingml/2006/main">
                <a:srgbClr val="7C35ED"/>
              </a:solidFill>
            </c:spPr>
          </c:marker>
          <c:xVal>
            <c:numLit>
              <c:formatCode>General</c:formatCode>
              <c:ptCount val="1"/>
              <c:pt idx="0">
                <c:v>975.471643</c:v>
              </c:pt>
            </c:numLit>
          </c:xVal>
          <c:yVal>
            <c:numLit>
              <c:formatCode>0.00</c:formatCode>
              <c:ptCount val="1"/>
              <c:pt idx="0">
                <c:v>0.781267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8"/>
          <c:min val="0.6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Mean actual quality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7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Mean latency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D98E8-2524-4C58-968A-31BC3DF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5644C-5081-46AE-8D0E-C4B8791C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0"/>
            <a:ext cx="423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2F307-EC98-434E-8068-35DC90C6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RouteLLM 复现与扩展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E4B6E-736A-4B6D-8D92-4CDA9C9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—— 分层资源感知的大模型路由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EBE63-71CC-44B8-8908-F6B69948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Hierarchical Resource-Aware Multi-Model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60785-082A-48FA-B49F-0577F160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课堂汇报精简版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8F130-A23F-4CD6-83A1-7F1FD68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汇报人：__________   小组：__________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0B054-6ACA-4EB0-884E-CC6A7030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30BB2-672C-4C2E-9BEF-B2235F7E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162050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DE6F6-128A-4D9D-9D90-E26BE98F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1421B-F0BF-451B-AAEA-8D93D3FB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19300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60168-FDC3-470F-A039-1533A2A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2804C-ADE6-4F9E-BCB5-B7CDFF78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76550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368B0-6111-49CB-BAC3-F88C3ED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D3EF6-4A42-4508-BF71-AE24FAC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33800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Experiment</a:t>
            </a:r>
          </a:p>
        </p:txBody>
      </p:sp>
    </p:spTree>
    <p:extLst>
      <p:ext uri="{BB962C8B-B14F-4D97-AF65-F5344CB8AC3E}">
        <p14:creationId xmlns:p14="http://schemas.microsoft.com/office/powerpoint/2010/main" val="1916199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89AB5-5316-4695-8E18-C3054B7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00D24-2239-4357-A46D-4E11A2D6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项目背景与选题定位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23461-0093-422B-B0E8-936459CC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官方复现是起点，增量扩展面向多模型云边推理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1A0CA-B98A-49FD-8802-74841B6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3361C-5617-424C-9DBA-B5FCE17A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FBF51-D8AD-44B5-BE2E-FE8BF77D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C04DF-3943-42D5-A997-F1BF7F12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60D2E-76F0-4AD5-941B-89C7A5F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1455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REPRODUCE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F5C1F-A689-4CA4-8BEF-968DAF6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62250"/>
            <a:ext cx="2400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RouteLLM</a:t>
            </a:r>
          </a:p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最小复现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A909-246C-414F-AE66-E9053CFE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E8BBD-A0EA-43C3-974A-AFDD65B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324AD-5C2A-4BE4-BB0D-080C868A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48BF5-A97C-4614-9761-27D0D07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1455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ANALYZE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06D0E-EC2F-488E-BD15-2A5D17D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400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Strong / Weak Routing</a:t>
            </a:r>
          </a:p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多模型云边局限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FAA03-6DB9-432C-92BF-5DBE8C1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051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BC9C9-3542-4FDE-BA7F-6AF1598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AD705-19F0-4439-81DC-B71C1BA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C3D62-1CB3-47BE-9CF3-4324D69B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1455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9D68B-75A3-42D4-838E-855325A5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62250"/>
            <a:ext cx="2400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Hierarchical Resource-Aware</a:t>
            </a:r>
          </a:p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1BB5B-D819-4250-A1EE-333E33F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42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9A70A-BB9C-469D-BAB0-DBB39EE8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LLM Routing 代表性开源 baseline，与课程 LLM 内容及当前研究方向直接相关。</a:t>
            </a:r>
          </a:p>
        </p:txBody>
      </p:sp>
    </p:spTree>
    <p:extLst>
      <p:ext uri="{BB962C8B-B14F-4D97-AF65-F5344CB8AC3E}">
        <p14:creationId xmlns:p14="http://schemas.microsoft.com/office/powerpoint/2010/main" val="1759078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3120F-AE46-4649-8946-FB5E3B69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C431E-F23C-4AA0-9676-4715FFA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RouteLLM 论文与开源项目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6A471-1E92-4823-BEE5-035D1B6D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Learning to Route LLMs from Preference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64B25-DD1C-4A79-80BD-5D576AA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E376D-7CC1-43F7-8C3F-9D51D1B4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C1AA9-856E-4435-8ACB-EA65AD5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239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1610E-8B10-4D25-AD3F-6BE497DE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RouteLLM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4D83B-F71E-4C4D-95BE-A0EC35E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Learning to Route LLMs from Preference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B6CA3-6285-4E00-943E-B836034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2024 · arXiv version released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F4A5E-2DDB-4578-9FE0-E34FD47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2025 · Published at ICLR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26BBC-D93A-4B71-A07F-117A828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143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178DD-0525-466E-B280-944DB898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OFFICIAL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B3743-37B0-49E2-BDA8-15D088D9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Preference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47ED-AD4E-468E-AA18-297CB05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CB2FF-BB1B-4891-A063-F51519D6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76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Learned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34C30-281C-4D67-9F46-6D0F5F7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05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036B9-272C-43C3-9CC0-9FE64CB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38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Strong / Weak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B2D1A-6F64-4BE9-9BB9-4C7343F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942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907AB-80EB-47E3-AD90-9B1E05F7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24475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官方工作聚焦性能与成本权衡，本项目从复现该 baseline 开始。</a:t>
            </a:r>
          </a:p>
        </p:txBody>
      </p:sp>
    </p:spTree>
    <p:extLst>
      <p:ext uri="{BB962C8B-B14F-4D97-AF65-F5344CB8AC3E}">
        <p14:creationId xmlns:p14="http://schemas.microsoft.com/office/powerpoint/2010/main" val="2040105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0F238-193F-410D-A84D-D8B10B37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0D6AA-0A82-46C2-A5E5-9D1AF9DD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RouteLLM 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DFACB-0A3A-49FE-A3C0-CF3F78DB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Query 经过官方 Router 打分，再按阈值选择 strong 或 weak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82ED9-4243-4B56-A188-AC2D131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2E405-FFFE-4371-8A37-C52E99D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19598-799E-46EC-9E1A-0829137D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33625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C4D76-89FA-460E-83A2-F4EE327A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57450"/>
            <a:ext cx="1190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06AF9-0B2D-42B9-B294-93D12D95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82025-376D-4567-916C-7D40E4F5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074A2-D745-4747-A99F-FED18BCA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574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52464-E349-4CFD-BD55-863D45E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2D50D-553D-4FEB-84EA-026EA15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1B4A7-8753-41B0-AD73-773A8634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Routing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CD884-F693-4C38-B02A-92A982B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717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8AA1A-BA28-4211-937E-0F3EBAB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476EB-77CC-4D65-9143-4F473DC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57450"/>
            <a:ext cx="1190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F7A9F-1A2E-4F32-BD3E-7B2DFFE8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717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9AA6A-4893-4018-8C52-1B0EE01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1476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4688C-9C75-46F7-AAE9-6396193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574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Strong / Weak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4F061-B96E-490C-8B7B-14395BF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717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132DB-0A67-40F3-B968-6D3E61F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FB943-FBC3-4C93-96EF-FAF5A125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A20CC-B288-4B38-8A35-919B84F4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8286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1A1EA-D720-4331-952C-86021D4D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Decision Object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2999E-3A84-4342-BEA1-2762B60F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C203D-ADB6-4ECE-BC1A-23980315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Key 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9D7A0-C093-4390-8ED0-DF66565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Which model should answer this query?</a:t>
            </a:r>
          </a:p>
        </p:txBody>
      </p:sp>
    </p:spTree>
    <p:extLst>
      <p:ext uri="{BB962C8B-B14F-4D97-AF65-F5344CB8AC3E}">
        <p14:creationId xmlns:p14="http://schemas.microsoft.com/office/powerpoint/2010/main" val="943991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459EE9-5C8A-49D4-9200-71B52AF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6D29-0EC8-4916-8C05-7AE9F1C9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RouteLLM 最小复现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56157-A681-4D70-BB49-9F476206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Official Baseline Reproduction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ED699-FD4D-479B-9398-BD74951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9527-33D4-4375-B65B-2FD11C0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BC329-3068-489E-979A-D84CD321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C1354-0A7C-482E-90F7-60EB3AC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143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3CE89-92CE-4DD1-A1C2-6E13F994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FDDE0-3950-4688-AD0C-BD634E37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86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069B-0E05-4922-AA39-628928E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3143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F409D-88A8-4795-9041-22F51C6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5BD2F-A57F-4BD3-B2D4-97B1593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52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EB82F-9773-44D0-B322-DEDAC2B0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3143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E489A-9F82-41C4-8625-3B825557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Routing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0394B-0D91-484E-9CE7-66E247B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19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1D7BB-F1A0-4638-87A2-53EB888C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3143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472B0-6801-4E51-86A9-BB3FD5D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59B74-70C2-4AEB-A6A1-26367E0A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86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0C1BB-1EC6-4AD7-89E1-2605B58A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3143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3649D-8C70-4C8C-A652-1BB8D79B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Strong / Weak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2FE60-BE66-4C27-9F3E-F1BF490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69532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29EF9-35B9-4062-B257-D1B8787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ACTUAL REPRODUCTION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ABB74-12B4-45B0-B92F-9D5FDA3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318FD-5F42-4D6E-901D-72FB02DB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What is 2 + 2?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E8CCE-8FC2-44C3-8680-C3E6DBE7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85A9D-B2E3-4D12-A48D-8034BB3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random (official offline router)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F9C90-2FB6-4D92-8657-930E4F6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147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Routing 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58DF0-AC00-4DA8-A769-67BCA16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0.113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7818B-983D-4341-BB8C-41D0DD6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91B54-6AD7-48CD-90EC-79C3A0E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0.60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5DF30-DC4D-419C-8C2C-51153D2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Selected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B9820-A353-47BC-8A9A-6A43F48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Weak Model · mixtral-8x7b-instruct-v0.1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C4F1D8-4699-4FE3-9F9C-41E874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BFCFE-7A44-422B-A149-655F9DE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Model Selection Reproduced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00A22-5D19-4681-A9E0-8B038BB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Final LLM response disabled in offline demo.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58E7A-4E54-4D7A-84D9-7E04A407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906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45C1CC-9142-46E7-B0AC-5BBC80F4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9775"/>
            <a:ext cx="942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Official Baseline Reproduced    Incremental Extension Starts Here</a:t>
            </a:r>
          </a:p>
        </p:txBody>
      </p:sp>
    </p:spTree>
    <p:extLst>
      <p:ext uri="{BB962C8B-B14F-4D97-AF65-F5344CB8AC3E}">
        <p14:creationId xmlns:p14="http://schemas.microsoft.com/office/powerpoint/2010/main" val="942725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A7927-6C77-4609-A9E0-0C432A0A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E11B9-543E-4F25-9770-8B75328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原始 RouteLLM 的局限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F6DD-4F02-4D41-8C92-EEDF5835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多模型云边场景要求模型选择与节点调度联合考虑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1DDAD-0F4A-4E43-B63E-02C4E8FE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6D8C2-61F1-480B-933B-DEDC476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04875" y="1857375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3619500"/>
                <a:gridCol w="43815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关键维度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RouteLLM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模型集合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strong / weak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multi-model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执行位置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未建模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cloud / edge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未考虑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latency / queue / GPU / VRAM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(model, node)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80FCA-2036-4FCF-9541-E5ED61C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核心变化：从“选择模型”扩展为“联合选择模型与执行节点”</a:t>
            </a:r>
          </a:p>
        </p:txBody>
      </p:sp>
    </p:spTree>
    <p:extLst>
      <p:ext uri="{BB962C8B-B14F-4D97-AF65-F5344CB8AC3E}">
        <p14:creationId xmlns:p14="http://schemas.microsoft.com/office/powerpoint/2010/main" val="1466875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8416F2-2F33-4551-8F6A-865FE0A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85C09-A85E-4EDF-8786-8CF8FA6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框架改进：从单层模型路由到两层模型—节点联合决策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9D89E-25D7-4BD7-A3DF-92252A74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Before · Incremental Improvements · After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78BEA-A560-4C9A-924A-0F0EFD0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5D195-ABEB-4990-99C9-F434E78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5680A-C09A-49B1-B2BC-3CDD2EFC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2714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F5117-79F3-4003-8327-30CA233E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BEFORE · Official RouteLLM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2C007-5296-4D7B-B8DE-AEFE470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50209-F72F-43C1-95FD-3164CB1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BC905-8B65-4ECF-AE77-C211831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4238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706DC-028B-4AA4-AE98-874BD94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AFTER · 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899D5-012C-4BAF-9014-8B10C4AB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52412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740AE-D35E-4BB2-AB28-DE50F45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143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REPRODUCED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Query → Router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Score → Threshold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Strong / Weak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D1346-1770-4C5F-9A00-5096E884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1.  Two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4782C-CF5A-47D7-A611-40F3D4C4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6D2A9-0D41-41EF-B5C0-208C749A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Multi-Model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E72D5-A16A-4987-B7E5-9B1A593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2.  Top-1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F800C-7C52-4918-AAB1-D223BAAF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622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FD9BC-6B0D-495D-9530-0614A656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Top-K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C445D-21EE-4205-AECD-CFBFD957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3.  Model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83FFD-96A3-462F-BD65-05F8C5F2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5C60F-3465-4ED0-8963-B052F3F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Model +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9EE78-1111-4271-A521-ED45A26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4.  Query-only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70B8B-EBC8-4A6B-88DA-359FE1E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909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22735-0102-4772-BCAE-B84C467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3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Resource Awareness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5F053-31D4-4198-AC70-E0DAF775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5.  Soft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87047-C74E-44DA-8582-4C31D26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6C83E-2E46-4B9F-891A-85D1820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q_min + 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5516E-4CB5-41B4-9801-A35C605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39528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81E5E-B06D-49A6-B34D-8A05BFE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200"/>
            <a:ext cx="357187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OUR EXTENSION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Query → Query Encoder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 Predicted Quality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Top-K → Quality Constraint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Resource-Aware Scheduler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 Model × Node Utility</a:t>
            </a:r>
          </a:p>
          <a:p xmlns:a="http://schemas.openxmlformats.org/drawingml/2006/main">
            <a:pPr algn="ctr">
              <a:def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Final Model + Node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39EFE-38C4-4B79-8DE2-88BA440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08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412C2-7AD9-432B-B18E-140D783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908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75D87-FC77-4016-88C1-747C824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F89BF-0CB3-462E-BC03-69DFA233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第一层：“哪些模型有能力完成？”    第二层：“当前由哪个模型在哪个节点执行更合适？”</a:t>
            </a:r>
          </a:p>
        </p:txBody>
      </p:sp>
    </p:spTree>
    <p:extLst>
      <p:ext uri="{BB962C8B-B14F-4D97-AF65-F5344CB8AC3E}">
        <p14:creationId xmlns:p14="http://schemas.microsoft.com/office/powerpoint/2010/main" val="1802724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0E6BF-DDFF-463A-A4A1-AE44B6CA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640EF-8165-4805-9929-EA5475E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完整两层框架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ACE7-0DE1-4C16-AAAF-BF7EA49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Layer 1 负责任务与模型适配，Layer 2 负责资源与节点调度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ECB05-F6DB-4579-876A-A17A65A1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1A7B4-81DF-46F8-8173-562C7F8A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384C8-5EB0-4DA1-BB4F-5AD0A693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E9FF"/>
          </a:solidFill>
          <a:ln xmlns:a="http://schemas.openxmlformats.org/drawingml/2006/main" w="19050">
            <a:solidFill>
              <a:srgbClr val="7C35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5EE6A-F7BA-451F-9D53-39EAC85F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764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LAYER 1 · Task–Model Matching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30CAD-E1D8-481A-9BBB-59CE5C6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357D9-78CB-459F-9170-E20AF9E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1D43C-928B-4757-8E07-243000F6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52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168B-0078-4B59-851A-EC26C18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26BCA-1757-44F9-A0C1-563D226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431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79566-55FE-4010-91F2-99AD3FD2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C1735-5EB1-4290-90B2-EA54FB2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A4C05-E02D-4D80-A030-68A91E7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431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Predicted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9C48D-3835-466F-A4BD-7DB7622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40195-41A8-436A-ACDA-91FA463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241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AD00D-2BA3-42E0-9B04-E49654D3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431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Top-K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912E8-AEA8-49C3-AB80-5D1BAEE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2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A5B82-F02D-4016-822B-77F365FA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FC250-226B-4884-93FA-FAF557B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4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Quality Constraint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BA134-EF1C-4A17-915D-EB607659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095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19050">
            <a:solidFill>
              <a:srgbClr val="17B4A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EEFA0-0D70-4C45-A0A7-9A16732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LAYER 2 · Resource–Node Scheduling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E047C-7C85-496F-90EA-8AE5322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DD27B-4CC9-4FA1-B195-E9306E25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38675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Top-K Candidates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FACA6-393F-4F36-A221-CB47DA5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908D8-E44B-4C4C-87C4-5580090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E64F1-E329-4B9E-9DAA-E4857ED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3867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Resource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91937-2889-4B90-A465-27202C28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482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2526E-BBA4-47DA-89E2-61BECBF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2571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F0A15-7526-426F-A387-E63B4FF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38675"/>
            <a:ext cx="243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Resource-Aware Scheduler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06F2D-54B6-4F4C-AA8D-DA778FD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482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1D57A-5BF9-4C95-A45D-4DA8FE2B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19625"/>
            <a:ext cx="171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A331D5-9686-422B-A07F-68B20C87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38675"/>
            <a:ext cx="158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 + Node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2ECD01-EFCB-4679-8939-7C3ADC40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第一层保证候选质量，第二层在合格候选中优化系统状态。</a:t>
            </a:r>
          </a:p>
        </p:txBody>
      </p:sp>
    </p:spTree>
    <p:extLst>
      <p:ext uri="{BB962C8B-B14F-4D97-AF65-F5344CB8AC3E}">
        <p14:creationId xmlns:p14="http://schemas.microsoft.com/office/powerpoint/2010/main" val="99932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373F6-F14F-4AB5-BC7D-02D3AA7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FFAAD-94C4-4CC2-8585-A5B8BE6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第一层：Query 到 Top-K 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254B1-0BA4-4478-88C9-5FC54464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特征编码后，为每个模型预测质量并排序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0694C-A821-4001-B58D-161A68CD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0E2F6-9640-441A-813B-D0F0D514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FBBD0-A524-4A3C-9130-82C7431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Query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E67DB-CBAA-48A1-93F1-31CC918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complexity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code_signal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math_signal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token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191AC-24E2-4593-BE07-6EAD8951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22B3-76F9-4F4B-8846-8842B61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E9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9D8F2-0C6B-44AA-8007-C15A527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Predicted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1B6AA-848D-4A5B-80E1-FAFBDBC8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每个 model 得到一个</a:t>
            </a:r>
          </a:p>
          <a:p xmlns:a="http://schemas.openxmlformats.org/drawingml/2006/main">
            <a:pPr algn="ctr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predicted_quality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F9BE3-126F-41B3-BAC8-3A9CAB2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B8A77-A35B-44BD-80B9-A44AE316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A602E-EF92-4364-9012-164416B6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1930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 A   0.87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49168-F99E-4017-8F2C-89475795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257EB-3407-44EA-8562-DD8575D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0510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 B   0.75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2E996-E59D-42CE-8ECA-0C64F65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47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44935-F523-4EE6-8B17-DF09FC83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9090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 C   0.61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27C96-A5FC-4FC7-8E27-CFAA5B7B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↓  Top-K =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FFA50-6A4D-4559-A4EB-E74FB2A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71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6E652-3A50-4355-B6DA-DEEA706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38675"/>
            <a:ext cx="158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+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BB235-73E6-492B-9D1F-CEF135DF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8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F5569-8583-4058-AEBF-A31BAB02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predicted_quality 是 simulation-based predictor，不是由真实 benchmark 训练得到。</a:t>
            </a:r>
          </a:p>
        </p:txBody>
      </p:sp>
    </p:spTree>
    <p:extLst>
      <p:ext uri="{BB962C8B-B14F-4D97-AF65-F5344CB8AC3E}">
        <p14:creationId xmlns:p14="http://schemas.microsoft.com/office/powerpoint/2010/main" val="1414494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EFC75-D041-4900-B6F9-878D4629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39BDE-74E0-4F6F-96E3-9D1FDAE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Quality Constraint 与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891AE-BFDA-4836-B672-F2D9D924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默认 q_min = 0.70，先控制质量底线，再进入资源调度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90135-6B09-4B40-80DB-98B2831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060F-2798-4232-BBBA-FAB34A9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D8805-465C-4741-AA61-4940C97F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0968F-8561-49AF-A604-77236864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Top-K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E5C4-BBC5-4032-9CD3-2E8FA34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A7605-9CD0-4BCF-B2BC-B21A622E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0B5A-5C18-423B-A96D-D3CA67D4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 model-node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C5551-5067-4183-86F2-9B7774D3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955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AC8BE-14DD-46E6-A400-A18B40EF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DD4DC-F59B-4FAE-B122-01143D2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predicted_quality ≥ q_min?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C0FE0-AA48-4CCA-A85D-1DD69D0C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AF80C-E831-49DF-A8A8-3C5B7305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1AB50-9115-463B-B721-2787380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Resource Scheduler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137F4-66AA-46CE-9BA0-FB95D594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0.70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F0160-E6F4-40F4-B476-246C6E7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q_min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77CBD-51B6-41CE-9843-67055AC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866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8E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FF38F-2672-4F8C-A7AB-7B38AD4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全部不满足：quality_fallback → 选择 predicted quality 最高的可执行模型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B1D11-F56C-4D14-A8C1-8EA5839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当前实验中 0% quality violation 是观察结果，不是理论保证。</a:t>
            </a:r>
          </a:p>
        </p:txBody>
      </p:sp>
    </p:spTree>
    <p:extLst>
      <p:ext uri="{BB962C8B-B14F-4D97-AF65-F5344CB8AC3E}">
        <p14:creationId xmlns:p14="http://schemas.microsoft.com/office/powerpoint/2010/main" val="631625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D91B21-7DC3-4267-816C-EFCD6EF9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7C0FC-BAFE-4BCF-931D-F38986C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第二层：Resource-Aware Scheduler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03D6-0F9A-4C09-A361-D900E35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可行性检查后，用统一效用选择最终 model-node 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4D735-9C82-46D7-8553-D44F3C94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F62BE-7D55-43DF-A6FB-94B73C5D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004C4-B003-447D-A888-A1E48275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0301E-8C35-4F90-91AE-6C5A19A5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Deployment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87F5E-B971-4BC2-B3E0-69F440D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57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E7446-1B7B-491A-898F-4F2CB18A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E8E9C-D121-4CA2-A06F-81AD8B91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VRAM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DE41-6EE0-4714-848E-6C889235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62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832DB-70D2-4655-82A2-3493E0A1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E03D9-1DC6-4FD3-B86C-59CBDF85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Latency / Cost / 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6C60B-7B3D-4A65-963C-90A1707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67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AE3B2-38C7-4638-B9FD-413A6AA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26F95-02F3-4BE0-AA20-987E96E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Normalization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00C3D-C391-4BA3-AC58-01D91FF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9DBFE-CF32-416D-9404-13D74FFA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7B930-6B21-4DC9-A9FB-4E71D32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 model-node 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DA2D1-EC20-4ADC-B7ED-833C8817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62125"/>
            <a:ext cx="666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B1E46-D6E0-44DD-8AD3-27B0251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U = 0.45 × Q − 0.30 × Latency − 0.10 × Cost − 0.15 ×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4893D-4B03-4FCC-864D-46D162F6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4A2B0-B258-4040-A0D9-E7A2CC0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predicted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3DCB5-E50B-4C28-9628-854EAE5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Latency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9AD87-5530-4936-A8E2-FB8B451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estimated latency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675F8-37D6-4473-9CAF-AF1F4B5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46B93-9D8F-4CBE-AB3D-BFA66EC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inference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A65CB-D0A1-40CF-8A11-6B67EDC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6D3B3-3D4B-4A19-84C9-FC2834F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GPU / queue / memory pressure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A6451-0187-4FDD-AD7C-35306A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102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所有项先归一化到 [0,1]；权重来自配置文件。</a:t>
            </a:r>
          </a:p>
        </p:txBody>
      </p:sp>
    </p:spTree>
    <p:extLst>
      <p:ext uri="{BB962C8B-B14F-4D97-AF65-F5344CB8AC3E}">
        <p14:creationId xmlns:p14="http://schemas.microsoft.com/office/powerpoint/2010/main" val="1269414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4F134-8970-4639-B67A-2F96B99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E80E1-9C88-407B-B992-90829A6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为什么不直接把所有指标放进一个分数？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10105-003A-46A0-93CB-6ABAD9BD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质量底线与资源优化承担不同职责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3D251-54C6-47B5-98DB-0E4BDAD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35B13-7FB7-4573-A0A9-4BD836A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45091-7E47-4A5B-ADD4-3235E0DF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8A6A-AB6D-4349-9F31-56CA3FC5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A993E-E686-4B03-974E-6D19BBE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431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Single-stage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2056F-4BB7-4884-A27E-583E0E9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4457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Quality + Latency + Cost + Load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一个 Utility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低质量模型可能凭借低延迟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获得较高综合得分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28900-C6EF-4F8D-8F16-2D80D419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047BF-A8BA-4375-BFE5-17238B1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C4A8D-AE95-454F-8A14-DDF138D2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9431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Hierarchical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CC44-025A-443B-9C5D-22FB5691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05050"/>
            <a:ext cx="4457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第一层：Quality / Capability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↓ q_min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第二层：Latency / Cost / 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质量约束与资源优化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分别处理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8205B-A02A-46E1-81E2-BBD1704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8434A-23F3-494E-92F5-4B132E16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9592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先保证能做好，再选择当前最合适的执行位置。</a:t>
            </a:r>
          </a:p>
        </p:txBody>
      </p:sp>
    </p:spTree>
    <p:extLst>
      <p:ext uri="{BB962C8B-B14F-4D97-AF65-F5344CB8AC3E}">
        <p14:creationId xmlns:p14="http://schemas.microsoft.com/office/powerpoint/2010/main" val="1002673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F9FCA-7D91-413A-9217-81991DB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F8EF8-001B-4B63-90CD-35E23A1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四种 Simulation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2B2CA-F27E-4936-B063-3F48BFB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同一 request trace 下比较不同决策信息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AAF8B-461C-4117-83AD-602F7C1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FDF24-D36E-4D8F-9BDE-B13B66DF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857500"/>
                <a:gridCol w="2571750"/>
                <a:gridCol w="1428750"/>
                <a:gridCol w="161925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Strategy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Quality Awareness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 Awareness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Top-K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q_min</a:t>
                      </a:r>
                    </a:p>
                  </a:txBody>
                  <a:tcPr marL="91440" marR="91440" marT="45720" marB="45720">
                    <a:solidFill>
                      <a:srgbClr val="F59E0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 Only*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 predicted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Joint Single 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utility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 + 约束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4E356-B41E-4025-989E-56D5AE1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所有策略共享相同 query、到达间隔、jitter 和 seeds。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89552-FC56-4E1A-8B66-D352B62B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721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* Simulation Baseline，仅用于隔离 capability-only decision；不等价于官方 RouteLLM MF / BERT Router。</a:t>
            </a:r>
          </a:p>
        </p:txBody>
      </p:sp>
    </p:spTree>
    <p:extLst>
      <p:ext uri="{BB962C8B-B14F-4D97-AF65-F5344CB8AC3E}">
        <p14:creationId xmlns:p14="http://schemas.microsoft.com/office/powerpoint/2010/main" val="10704068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4A665-581A-4BB3-8858-F8B8896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661EF-3BE6-4AA3-A92F-4AEF72DD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实验环境与设置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997A2-5FFB-4339-B32D-8B93147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Simulation-based Cloud-Edge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68EE7-9DA8-4B44-8E89-20E06570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0951A-568E-4BEB-918D-A5AF6CCA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479FE-1A8B-4CF5-8230-AC326395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63CCB-76F5-44A8-8CF7-3908DA32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ED2CF-B2D4-4E0B-B5D5-5DA1269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431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D0550-6417-4372-A4D0-0EA8BBE1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933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部署 model-a / model-b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网络延迟较高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高负载时容易积压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8CC8B-F497-487F-AF9A-DC77D2E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C925D-AD2D-4918-AB03-F96B1BD4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8387B-5654-4EF8-AB8F-E0C9031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431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Edge-1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53B76-9E5F-430E-97EF-27CF333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05050"/>
            <a:ext cx="2933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部署 model-b / model-c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网络延迟较低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显存规模较小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AC3FF-7380-4276-BE89-3725804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Workloads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A2E15-A67B-445D-ADBD-3DAF21D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3EB65-4A7D-48E5-A1D1-3961A29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52675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Low 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9C665-9D42-48E7-8F3C-72FC642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53929-1BAC-44C6-8467-BAEDE39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24175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Medium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23BF7-A495-40EA-9722-53D4C1F2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B4DA1-437F-43CD-AAF7-28665DC9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95675"/>
            <a:ext cx="2247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High 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DD92E-B54A-43CA-85F4-EBF3CFBE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BC9A3-CDB3-4FD5-9F99-4BF9635E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4 strategies  ×  3 workloads  ×  5 seeds  ×  300 requests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124F0-6921-473B-86F8-0D0ABAE5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60 runs   |   18,000 requests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C166C-B62E-49D9-BF54-998800A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环境标签必须理解为 simulation-based，不代表 real deployment。</a:t>
            </a:r>
          </a:p>
        </p:txBody>
      </p:sp>
    </p:spTree>
    <p:extLst>
      <p:ext uri="{BB962C8B-B14F-4D97-AF65-F5344CB8AC3E}">
        <p14:creationId xmlns:p14="http://schemas.microsoft.com/office/powerpoint/2010/main" val="1935977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3E38C-3D83-4216-867D-FD269C40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C1CDF-C00E-44C7-BDD5-A2628E1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50533-3732-49B4-81F9-3676B05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用质量、性能和资源分布共同判断策略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CCFE9-2389-4D46-85B8-55538F4A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8ADD7-8D28-4745-83B1-05F28EE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45B6-7867-4F51-92B8-5115C542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2095500" cy="2238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1E580-366C-460C-B622-2C09E833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9A8F2-326C-4073-AE76-23C21BC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764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3E57D-AB0C-4F55-9810-60D1D90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38425"/>
            <a:ext cx="1695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Mean Quality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Quality Violation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5EF7F-849D-485F-99AC-599517F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43125"/>
            <a:ext cx="2095500" cy="2238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4F2D7-0C6D-48A5-9CC7-75462AA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4312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9FE02-0115-4D30-819F-051DB72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E2679-F2E5-4881-8A0D-25D27568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38425"/>
            <a:ext cx="1695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Mean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3DCB1-4A56-4A48-BED7-7E7C16D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2095500" cy="2238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516D0-5E60-4094-B403-C8041D9D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74E5B-03A9-44C5-B75E-DE360139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764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2DDD-AB2F-456F-9F68-849B5A1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38425"/>
            <a:ext cx="1695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Violation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4C34C-C21B-400B-BA5E-BF3FB846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2095500" cy="2238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47E71-20F4-4278-AFC1-22AAE45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91F28-76F2-442F-B1DE-9FB70E31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31169-3568-44B3-A82B-5EC68E8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38425"/>
            <a:ext cx="1695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Total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61E92-E91B-4956-9EB0-FD972EE7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43125"/>
            <a:ext cx="2095500" cy="22383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F1872-7602-4141-BC2B-8E1C2372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4312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8C9CF-8C67-4D31-B8DC-98E554B9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2764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Resource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A0F2C-6235-4C34-BE8B-448386D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38425"/>
            <a:ext cx="1695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Cloud Ratio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A0643-2DD4-4759-823D-F9927A7A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Quality 使用 actual_quality 评价；路由阶段只能使用 predicted_quality。</a:t>
            </a:r>
          </a:p>
        </p:txBody>
      </p:sp>
    </p:spTree>
    <p:extLst>
      <p:ext uri="{BB962C8B-B14F-4D97-AF65-F5344CB8AC3E}">
        <p14:creationId xmlns:p14="http://schemas.microsoft.com/office/powerpoint/2010/main" val="4594656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3C57F-B9B2-4BD7-9EB0-F72A872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07115-CCED-4398-A892-581ED8E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实验结果：Latency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6A78D-7B4B-4787-B0E7-1ABEB180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高负载下，Capability Only 引发持续云端排队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D3C90-B246-47C7-A3DA-A180E76B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0B3B-BE27-4A9C-A590-FCDE4DF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8048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3254def83246a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4BC51-505F-4B90-BDDE-02608B7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6,897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44083-BC64-465E-B37F-B25C3EC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Capability Only / 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F468C-B6B4-4C09-80D3-DE95581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975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28ECF-A44F-4900-AD8C-3625831B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Hierarchical / 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509FC-0A56-44D4-AB3B-24E34872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−85.9%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7A89A-5021-4C10-BB13-1E25C9BF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平均延迟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D818F-ECD3-4948-B65E-5696CCE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原因：只看 capability 会让强模型所在 cloud 持续排队。</a:t>
            </a:r>
          </a:p>
        </p:txBody>
      </p:sp>
    </p:spTree>
    <p:extLst>
      <p:ext uri="{BB962C8B-B14F-4D97-AF65-F5344CB8AC3E}">
        <p14:creationId xmlns:p14="http://schemas.microsoft.com/office/powerpoint/2010/main" val="4518252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08E87-2FF6-426C-84F8-D24AB23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88CA8-6722-4183-B721-D62A6A9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实验结果：Quality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3479B-36FE-4819-A112-D0BC47F0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资源优先更快，但可能突破质量底线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99B8-91C5-4C24-A112-EAF62D3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49C73-FBC0-466C-8E56-159A068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809750"/>
          <a:ext xmlns:a="http://schemas.openxmlformats.org/drawingml/2006/main" cx="561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ad58eabbbe4277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0" y="1809750"/>
          <a:ext xmlns:a="http://schemas.openxmlformats.org/drawingml/2006/main" cx="561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03835e285d489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417D-6DE3-4A88-8511-4DB4DC97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Capability Only：质量最高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1D12C-1A21-432E-8AFE-9B826EA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72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Resource Only / High：46.6%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ECAA8-73C8-476C-8E04-AB709EF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721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Hierarchical：Quality 0.781，当前违约 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02D76-924E-4D27-B7FB-352A4B12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目标是满足质量底线，不是追求最高平均质量。</a:t>
            </a:r>
          </a:p>
        </p:txBody>
      </p:sp>
    </p:spTree>
    <p:extLst>
      <p:ext uri="{BB962C8B-B14F-4D97-AF65-F5344CB8AC3E}">
        <p14:creationId xmlns:p14="http://schemas.microsoft.com/office/powerpoint/2010/main" val="12465772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A18D-A940-4355-8026-293F0701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18161-3CF7-41D2-AD37-E09E758C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高负载综合对比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95DD6-18AA-4391-B8F8-CC41193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所有原始指标来自 summary.csv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F0EFA-ED64-406C-AC11-654CC39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18E8D-161E-4262-A3D2-6E441B6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33375" y="1809750"/>
          <a:ext xmlns:a="http://schemas.openxmlformats.org/drawingml/2006/main" cx="115252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1238250"/>
                <a:gridCol w="1714500"/>
                <a:gridCol w="1571625"/>
                <a:gridCol w="1666875"/>
                <a:gridCol w="1381125"/>
                <a:gridCol w="161925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Strategy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Latency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Q-Violation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SLA-Violation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Cloud Ratio</a:t>
                      </a:r>
                    </a:p>
                  </a:txBody>
                  <a:tcPr marL="91440" marR="91440" marT="45720" marB="45720">
                    <a:solidFill>
                      <a:srgbClr val="EF476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6897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36.3%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Joint Single 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915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36.8%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0.781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975 ms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30.7%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0.687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36.9%</a:t>
                      </a:r>
                    </a:p>
                  </a:txBody>
                  <a:tcPr marL="91440" marR="91440" marT="45720" marB="45720">
                    <a:solidFill>
                      <a:srgbClr val="F1E9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AD26E-5ADB-47BF-8C52-06E8CAD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当前模拟环境与 q_min 配置下，Hierarchical 获得更均衡的 quality-resource trade-off。</a:t>
            </a:r>
          </a:p>
        </p:txBody>
      </p:sp>
    </p:spTree>
    <p:extLst>
      <p:ext uri="{BB962C8B-B14F-4D97-AF65-F5344CB8AC3E}">
        <p14:creationId xmlns:p14="http://schemas.microsoft.com/office/powerpoint/2010/main" val="5272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FAC46-4140-4C04-96E2-55F2333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21184-68C2-465B-A98B-5A42A8C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Visual Demo: Official RouteLLM vs Hierarchical Router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F7088-DB6B-4BC2-95DC-2BA1C738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同一页面切换两条真实决策路径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2093C-BA88-4E1E-AAB5-A33B03E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A78B1-5A76-4C46-9843-567F8AC3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1EBE-3CFD-4E38-9926-7CA06867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5381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138E1-BC3B-4A72-BB0B-197C58A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5381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9C1F1-908D-45FE-AB62-61F254D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 A · Official RouteLLM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571B1-A1B3-4520-AB55-171FCA6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209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Query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Router Score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Strong / Weak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E8504-6E89-4A91-89A2-93DA294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12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Decision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160D8-B542-43BD-B0A1-F41D4441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D41F6-7051-45DE-831F-BC573AE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Key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65BC1-973A-4682-AB3C-01ABC720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997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Which model should answer?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4B4ED-EC79-4F8D-A24D-5547B3FE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5381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6DA3C-98D8-4299-B0B9-5145B7F3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5381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C4303-2956-4A83-BB57-8D61E0B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240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 B · Hierarchical 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C871B-AAA4-4198-A6EB-E8A91A9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Query → Capability Ranking → Top-K</a:t>
            </a:r>
          </a:p>
          <a:p xmlns:a="http://schemas.openxmlformats.org/drawingml/2006/main">
            <a:pPr algn="ctr">
              <a:def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Resource State → Model × Node Utility</a:t>
            </a:r>
          </a:p>
          <a:p xmlns:a="http://schemas.openxmlformats.org/drawingml/2006/main">
            <a:pPr algn="ctr">
              <a:def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Final Model +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0E98C-1C17-45E7-97A0-A6DA228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REAL EXAMPLE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1B37F-A5CE-42B0-9087-87746FD5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 0.870   B 0.753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FB7A6-8F73-451E-ADA8-51EF906B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Cloud: 95% GPU, Queue 8, Congested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7E926-AA4A-48A4-8D1F-F24C204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Edge: 25% GPU, Queue 1, Available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38BB5-C054-4A6D-A0C9-A790331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Final: Model B @ Edge-1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8B227-2ED7-4780-8B9E-7A7AB78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08799-4CA4-4CFB-9246-08610DC7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5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LIVE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97E24-768D-4390-94BF-7BB9B3B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673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 A: Official RouteLLM    Mode B: Hierarchical 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4D01A-C19F-4037-8221-00CC1BD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673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.\run_visual_demo.ps1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3C595-362A-41E7-A2F4-EC39736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能力最强的模型，不一定是当前最合适的执行选择。</a:t>
            </a:r>
          </a:p>
        </p:txBody>
      </p:sp>
    </p:spTree>
    <p:extLst>
      <p:ext uri="{BB962C8B-B14F-4D97-AF65-F5344CB8AC3E}">
        <p14:creationId xmlns:p14="http://schemas.microsoft.com/office/powerpoint/2010/main" val="6850567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49E81-CE42-4221-A49F-E260117A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2AB3C-8AD3-4ECE-9DFF-8C0210A9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72F5E-301F-4935-8C4D-8846BA4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当前实验验证 routing policy behavior，不代表 production deployment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DE337-1E4E-471D-BE30-9D90722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9209D-BAB9-4FE3-A8D8-57367A37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E9CC8-6E43-48F0-8392-1A71DE10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8E982-D187-434A-91F5-9E4867B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9A58B-63A9-49D8-A808-B90A720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predicted_quality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F718D-F192-482B-BE1E-60920F4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811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synthetic / simulation-based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907A4-1530-4D71-B2DD-091607B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94599-2DDA-4C0E-A54F-2873380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E797-9278-4529-A9F3-F9A3E0C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actual_quality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79BB4-E92D-4505-BE99-29B49B7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synthetic ground truth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DF623-F199-4279-B50B-C3DE156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04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94BC2-A5CC-49F4-95C3-7BDE75D6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04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729CA-B348-4365-B9DD-CD406DA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cloud-edge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95D16-75FB-478C-8A3B-B0A1E3D2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simulation-based 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87823-F6C7-45B7-8C03-7209979E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4335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45109-10C4-4FF9-A018-2A262F9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433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9C8B2-72E2-40ED-AE49-5491FAE0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00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weights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DCC5F-7F17-40BB-AF35-6DF6BFB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manually configured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5B915-5E43-4A03-BC65-4F2EF72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B59CA-EE53-470F-B035-50FC526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0DBD5-93FD-4FCE-A9E1-C40287E8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29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2F364-6A9E-4522-9F23-CEFFA49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529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3 models / 2 nodes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65532-2983-4D5A-A10B-43D4A9E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7375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E8E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013F4-3CAB-4072-B4AB-8DE5AF3C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435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Not yet: real vLLM deployment · 当前结论只验证策略行为。</a:t>
            </a:r>
          </a:p>
        </p:txBody>
      </p:sp>
    </p:spTree>
    <p:extLst>
      <p:ext uri="{BB962C8B-B14F-4D97-AF65-F5344CB8AC3E}">
        <p14:creationId xmlns:p14="http://schemas.microsoft.com/office/powerpoint/2010/main" val="20795700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775FF-F7EF-48F6-8D50-F1F8DDC3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8C833-497F-4328-9ABB-AAF56AF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289EE-9490-4CBC-B9FC-4BA772B0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从课堂原型逐步替换为真实质量与资源信号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70C9D-AA29-44D9-996A-8791FDC5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ED93A-E410-47ED-AE38-02598F3C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93F80-EE3C-4D0C-AE14-77C921BE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7AC1-76CC-4A91-941D-0CC20489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Current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08C3C-E781-4CA8-97A4-FA6E2020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336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3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34DBE-1C29-456C-B2AE-82427F78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B3FFE-A707-4A63-A6FA-41C3685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 Query-Model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FF87E-D44A-4BF1-810C-28AE65A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336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3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44D80-570C-429C-B5C4-00D95C6A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DA9C3-258C-4C00-88CA-D135AE59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Predictor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0648B-010F-4EF7-A6FB-CBB7552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3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3156F-1047-4A40-97EB-3CC29D0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B4F14-C240-43BF-8D32-46B03BB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 Resource Monitoring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 · VRAM · Queue · TTFT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36972-16A2-4A65-A35C-ED439329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336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3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75DDB-3495-4AFC-808D-33130561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4F25-EEA4-4951-BB5E-C0DACCF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Multiple vLLM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Endpoints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764FB-EF83-40B2-95C6-A1EB641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36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37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DCA40-7E9B-4B14-B8DC-18B2205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10C3C-70C0-49EC-827D-2ACE39E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57450"/>
            <a:ext cx="1476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 Cloud-Edge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Multi-Model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020B8-D2E8-4BB0-AF08-81F7367A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FF253-F6F6-48F1-A444-C8F86130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7202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课堂项目 → 期末项目：接入真实 benchmark、监控与多个 vLLM endpoint。</a:t>
            </a:r>
          </a:p>
        </p:txBody>
      </p:sp>
    </p:spTree>
    <p:extLst>
      <p:ext uri="{BB962C8B-B14F-4D97-AF65-F5344CB8AC3E}">
        <p14:creationId xmlns:p14="http://schemas.microsoft.com/office/powerpoint/2010/main" val="4828827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5A11B-39A5-428B-B07E-0160DDE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58619-5124-4C92-A93D-4BBA7E44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Summary /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EBA99-DA4F-489F-B7A2-BCA2854D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Reproduction · Extension ·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66F65-0A62-4484-B8AA-0CB84AE8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0863C-F1DB-45C7-B7DF-DD3E78A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73945-75D6-48B3-8960-BE8431C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766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19362-D1AC-419E-B6C5-0ECE5E1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BB030-ED2A-4B6A-A7DE-676F4D9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CC79-D5D3-400D-9512-96B8FA1C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240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REPRODUCTION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BD745-937D-4D1B-BC72-EC759F51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RouteLLM 最小复现</a:t>
            </a:r>
          </a:p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Query → Router → Strong / 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12135-AF7E-4BDA-878D-E572276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766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1821B-9075-4D1D-9B52-85A79AAF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7553A-62B0-4836-BDC0-5EA19C70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29124-E263-48E6-9580-22EAB385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5870D-1E9A-44DC-9F16-DB672F39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Multi-Model · Top-K · q_min · Fallback</a:t>
            </a:r>
          </a:p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Resource-Aware Scheduler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84A5C-1CB2-4C16-ABEE-29C82EA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4766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A1051-4A6C-4253-B00B-572329F4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AE424-FEBB-47A8-9A32-43EECCF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478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C90E5-80BA-41CF-A396-368FE889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240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CC53B-B0D5-47E9-B50E-AA4DE568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14625"/>
            <a:ext cx="2943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4 strategies · 3 workloads · 5 seeds</a:t>
            </a:r>
          </a:p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60 runs · 18,000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3BB7D-E6ED-474C-99D4-5012B91C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7A1C4-69B3-4F86-9998-FBE329DF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第一层：“哪些模型有能力完成？”    第二层：“当前由哪个模型在哪个节点执行更合适？”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7EA8E-C26F-426B-87FD-33E44CF1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05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0306624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44985-3DA6-4673-947C-7186190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FE6F1-A3A3-4A66-8882-687C93FD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A：源码目录结构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343F-1044-42B2-9EDA-E01382C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原始 baseline 保留，新增模块按职责分离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24F35-1EBB-4FF3-8A1D-ACE81AE2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39F0B-0BE3-4329-8CC9-661EC14D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2A7D0-E3CC-4618-B34B-E9684CEA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Baseline 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B2BE9-ECC3-4C99-9B08-F7B7D93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routellm/routers/routers.py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routellm/controller.py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官方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5A143-A372-43DE-ABC8-28163780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Incremental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E6EE0-1121-41DC-856A-4D198089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routers/multimodel_router.py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routers/quality.py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scheduler/resource_scheduler.py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routers/strategies.py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●"/>
              <a:def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simulation/workload.py / simulator.py / metrics.py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AB9D-41E8-4D2B-B194-76517490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控制器：routellm/hierarchical_controller.py</a:t>
            </a:r>
          </a:p>
        </p:txBody>
      </p:sp>
    </p:spTree>
    <p:extLst>
      <p:ext uri="{BB962C8B-B14F-4D97-AF65-F5344CB8AC3E}">
        <p14:creationId xmlns:p14="http://schemas.microsoft.com/office/powerpoint/2010/main" val="6656674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1DEFA-4BE6-4D51-A30D-767884F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1A856-3046-4C56-BD76-2986120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B：运行命令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25173-6BF2-40F3-B604-6D78BFE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原入口全部保留，新增实验与可视化入口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EBFFA-F217-4553-8B74-FF0058D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551B3-347A-45FA-85E5-EB7ADF20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AE308-DAC0-4B12-8D45-DEEBAB00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313B5-F479-4EE7-B2E5-BB07549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764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.\run_demo.ps1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86EBE-36F3-4AF4-B560-88A4DBA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单次决策链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BADB7-961B-4F1D-AB7F-BE36B6FD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4B6CD-1521-47CE-BFE4-C1D5A3D8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.\run_simulation.ps1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4FBD0-4BC9-4DF9-9CFE-9D0AA19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保留 simulation 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0C7D9-0523-47F6-A2C5-D238D082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F2133-E427-49ED-974A-E2305477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.\run_experiments.ps1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85D34-D317-40B0-B531-84713F96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60 次实验与结果文件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28BC1-5F1A-4626-97AA-F2A2C634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B7511-4F55-4C53-83DB-76B8D542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.\run_visual_demo.ps1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7A66D-4890-4965-8629-A821273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双模式课堂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AF01B-DC15-443D-8697-E2F204E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18AAB-01EC-47ED-ADF4-3F096CC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006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-m unittest discover -s tests -v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7BDF3-FD89-4749-8901-4A71F29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19 tests</a:t>
            </a:r>
          </a:p>
        </p:txBody>
      </p:sp>
    </p:spTree>
    <p:extLst>
      <p:ext uri="{BB962C8B-B14F-4D97-AF65-F5344CB8AC3E}">
        <p14:creationId xmlns:p14="http://schemas.microsoft.com/office/powerpoint/2010/main" val="5268821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2BF29-0902-4758-9744-3429A57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A1D2-F2BB-4061-93FC-7E95B75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C：Actual Quality 公式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759E1-DEEC-43A9-BB21-5E819F53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隐藏真值仅用于实验评价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5D0A9-6A3E-4705-99A0-8AA9254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6D6F0-9DB5-421A-BA76-9E0A5080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567AA-0D2E-4F98-B524-86075765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1E9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548AE-F86F-42D9-B566-E29A762A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actual = clip(0.30 + 0.60×strength − 0.18×difficulty − 0.35×shortfall + specialty_bonus)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38ACC-4300-478B-80D5-F40D504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E214E-E31E-45E2-B97F-13F61F9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4A39-2FDB-4DA9-96EE-46F0B30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difficulty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1FBED-4680-4FA0-8408-867D49A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0.50×complexity + 0.30×code + 0.20×math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0C9CE-FBE6-46D8-819A-35D4B72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A1338-CF2D-45A7-8D52-5ABA0ED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5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6382D-8318-427E-A1D7-24439E7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273-27A1-418C-9D7D-99FF6D3B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0.55×prior + 0.45×level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E427E-608F-4F5B-8399-03596BB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D4A92-5F84-475A-B439-AEDC94AD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0D484-9F87-42F9-A95E-5E68FF82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shortfall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3C7F8-7874-48C9-AB4A-45A84ED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291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max(0, difficulty − capability_level)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146B8-EB8C-4D8B-A0D3-47F7672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A9F31-FF9D-4397-AE3C-46256D9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0A01C-BD74-4127-8DB1-6508118D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bonus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A721B-FFDA-42AE-8913-4E440C0B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291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命中 specialty 时 +0.08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81643-CC8B-411C-B87B-95002A7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这是 synthetic ground truth，不是 benchmark accuracy。</a:t>
            </a:r>
          </a:p>
        </p:txBody>
      </p:sp>
    </p:spTree>
    <p:extLst>
      <p:ext uri="{BB962C8B-B14F-4D97-AF65-F5344CB8AC3E}">
        <p14:creationId xmlns:p14="http://schemas.microsoft.com/office/powerpoint/2010/main" val="8486648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B78C8-097A-4F0E-A720-60B36FF0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1F07B-151C-44EE-882C-B84B429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D：Deterministic Noise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7D691-41E7-45ED-8B21-FE9397C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预测质量带误差，同时保持 seed 可复现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DE7EC-8E7D-4E1C-AF97-8D87538B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87F6C-9C1F-45BE-88A5-1A6FB658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9386B-49F6-47BA-AE72-EBBF252A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9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70915-AF75-480A-8355-8F601326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9550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predicted_quality = clip(actual_quality + deterministic_noise)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E0020-EECF-4DD7-8DC4-F623209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571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CB6D0-19E5-4B18-A0F7-F02D62C1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95675"/>
            <a:ext cx="558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SHA256(seed | model | query)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43965-CC82-4952-BCAF-FC432A3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338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E67E7-EC13-49DB-8E91-DF1AB7D7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CFF7F-BD4F-4A83-BC8B-F713275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43425"/>
            <a:ext cx="386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noise ∈ [−0.04, +0.04]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CC093-EDA7-4AC6-B790-E706D2A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相同 seed 与输入得到完全一致的结果。</a:t>
            </a:r>
          </a:p>
        </p:txBody>
      </p:sp>
    </p:spTree>
    <p:extLst>
      <p:ext uri="{BB962C8B-B14F-4D97-AF65-F5344CB8AC3E}">
        <p14:creationId xmlns:p14="http://schemas.microsoft.com/office/powerpoint/2010/main" val="14604065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DFDF0-69CD-4796-9C73-44E21B25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C08DF-DCDF-4E71-97BB-9A4EB37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E：Workload 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C8C63-8B62-4DB2-B08C-0D00C7A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只改变到达间隔，所有策略共享同一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39D78-6EFB-4582-B545-80D4C28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025AA-B6A2-44D5-99BC-A3750FC0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714500" y="2000250"/>
          <a:ext xmlns:a="http://schemas.openxmlformats.org/drawingml/2006/main" cx="8763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857500"/>
                <a:gridCol w="34290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Workload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Arrival Gap Range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low_load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1.45–2.10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基本不排队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medium_load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0.72–1.05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cloud 开始积压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0.32–0.58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能力优先时严重积压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D4741-D2BF-4DA6-8320-9EA40264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每个 workload × seed 生成一个固定 trace fingerprint，四种策略共同使用。</a:t>
            </a:r>
          </a:p>
        </p:txBody>
      </p:sp>
    </p:spTree>
    <p:extLst>
      <p:ext uri="{BB962C8B-B14F-4D97-AF65-F5344CB8AC3E}">
        <p14:creationId xmlns:p14="http://schemas.microsoft.com/office/powerpoint/2010/main" val="2677580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2A21-1DC9-4D66-B1AF-E9ED97F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D2D31-C364-4BE7-ADC7-A178656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F：Utility 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460E7-12CC-40EF-BFE1-2F581C76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所有权重来自 config，不在代码中硬编码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18AB-FD14-4FED-883B-77B7E40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8D40F-0B1F-4E48-9E42-21D1A02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428750" y="1809750"/>
          <a:ext xmlns:a="http://schemas.openxmlformats.org/drawingml/2006/main" cx="93345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571750"/>
                <a:gridCol w="3905250"/>
              </a:tblGrid>
              <a:tr h="57943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 / 尺度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predicted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正向收益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normalized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延迟惩罚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normalized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成本惩罚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 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GPU、队列、显存压力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latency_scale_ms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延迟归一化尺度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50B85-B5DC-4D90-BFDA-FCB813E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B4A6"/>
                </a:solidFill>
                <a:latin typeface="Microsoft YaHei"/>
                <a:ea typeface="Microsoft YaHei"/>
                <a:cs typeface="Microsoft YaHei"/>
              </a:rPr>
              <a:t>U = αQ − βLatency − γCost − δLoad</a:t>
            </a:r>
          </a:p>
        </p:txBody>
      </p:sp>
    </p:spTree>
    <p:extLst>
      <p:ext uri="{BB962C8B-B14F-4D97-AF65-F5344CB8AC3E}">
        <p14:creationId xmlns:p14="http://schemas.microsoft.com/office/powerpoint/2010/main" val="3475844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C81C-7F55-4AD8-88E0-1867826A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21AE9-8287-42AA-BE29-8DB6D58C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G：Top-K 与质量阈值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7D112-4927-4446-B9F6-F8AC7E2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候选数和质量底线均可配置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2FFE5-8507-46F8-B316-1E184D2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F110F-7B61-40FE-9C26-5EA56F4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59721-EFCE-473A-BB51-7A240CE2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428D5-E87C-41D7-9B75-B1A78E8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top_k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9AAE1-1756-4769-9546-3D0AC0D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0.70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BD79A-67A8-4219-8333-7F22D14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q_min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7B0BB-F442-404B-B69A-A96BEA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885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1F25C-2642-4FC0-921A-DB051BA6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Top-K 控制第二层搜索空间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2D40B-EEC7-4A34-BC6E-84157EC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76F"/>
                </a:solidFill>
                <a:latin typeface="Microsoft YaHei"/>
                <a:ea typeface="Microsoft YaHei"/>
                <a:cs typeface="Microsoft YaHei"/>
              </a:rPr>
              <a:t>q_min 控制预测质量底线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EB387-F16C-4EF0-AAA0-9E07E6B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全部候选未达 q_min 时启用 quality_fallback。</a:t>
            </a:r>
          </a:p>
        </p:txBody>
      </p:sp>
    </p:spTree>
    <p:extLst>
      <p:ext uri="{BB962C8B-B14F-4D97-AF65-F5344CB8AC3E}">
        <p14:creationId xmlns:p14="http://schemas.microsoft.com/office/powerpoint/2010/main" val="2674562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43775-8AA0-4B15-AA21-96234ED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5815B-8F8E-456B-B236-1C08AC89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H：单元测试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6E0B8-1906-4080-B875-AF434D2A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19 tests 全部通过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076B-66B9-4827-B01E-1126BA1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CFFD0-CF45-47EF-BD67-D3AAE0C4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BCD43-DD28-402A-AB52-5F6A0EF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AFF39-5044-4882-AAFD-4284946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4EFA1-1D0D-4EEC-A629-E8020D9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Top-K 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50557-E4D5-49AE-80D8-9791CA9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CECF6-2503-4127-A787-3FF5EB65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36A17-5B81-47ED-973E-E371598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质量阈值过滤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85AB4-4169-493A-BD94-8A5E387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7C552-4463-4235-A089-AAD7BBE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36A24-77C4-4CD9-8B8A-9536AC1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03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拥塞时选择第二候选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2CA80-F885-491E-A902-774ED1B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6E65-9E07-4846-BF7A-A521266C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EAB31-269E-4B5A-80FA-E377D397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cloud 空闲时恢复高质量模型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5FE25-9B49-49B2-9F3D-990F2CCD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3609F-EA1D-4E46-ACD4-80871D8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A7D02-3AFA-4BCE-A931-B20905D6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Official Controller 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DCEED-D070-40A5-B7C7-36664A66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DE77D-6096-41A8-BEA8-E332025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DE800-0636-4A04-903A-F87558E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Hierarchical Controller 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45B9B-8D1C-46EA-9C3A-F531EFC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87B50-2AC4-46D3-B214-C8ACCB0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6275A1-32BD-476F-B0B9-5D51D994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相同 seed 完全一致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60172-E545-425D-9BF7-557F31C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29100"/>
            <a:ext cx="509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01702-A21D-48F1-BEDE-EA87EF3D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01937-2222-45AC-9473-FE5D49A9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767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场景与 utility 一致性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0A7FA-673D-43EE-A40B-E1E00DA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4C407B-DCD2-4DC0-9A65-7432418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591175"/>
            <a:ext cx="443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Ran 19 tests · OK</a:t>
            </a:r>
          </a:p>
        </p:txBody>
      </p:sp>
    </p:spTree>
    <p:extLst>
      <p:ext uri="{BB962C8B-B14F-4D97-AF65-F5344CB8AC3E}">
        <p14:creationId xmlns:p14="http://schemas.microsoft.com/office/powerpoint/2010/main" val="12276589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443A7-91CC-4FF4-9067-5F170B0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7DDC3-57C1-44DF-B41C-ECB8F71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I：消融开关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C10E-BD49-45DE-9CA7-B625C394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代码支持关闭四个组件，便于后续实验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3255F-4726-4AE9-B265-F5BAF4EF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F75AE-B058-4B7D-A54A-461B8FD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619250" y="1952625"/>
          <a:ext xmlns:a="http://schemas.openxmlformats.org/drawingml/2006/main" cx="8953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495300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开关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关闭后的行为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use_quality_constraint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不执行 q_min 过滤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use_resource_awareness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不使用实时资源状态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use_cost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utility 不含成本项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use_topk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枚举全部模型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96C06-CA1A-4F44-999F-BE4A2A93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建议后续按 workload 做 one-factor-at-a-time 消融。</a:t>
            </a:r>
          </a:p>
        </p:txBody>
      </p:sp>
    </p:spTree>
    <p:extLst>
      <p:ext uri="{BB962C8B-B14F-4D97-AF65-F5344CB8AC3E}">
        <p14:creationId xmlns:p14="http://schemas.microsoft.com/office/powerpoint/2010/main" val="12542144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68EBD-4731-481D-9E5B-450DEE43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E0D9-3F44-4FEE-8F0D-F92C41B2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J：Cloud Ratio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7E8F2-186A-4093-BBB0-1995C660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能力优先始终走 cloud，其他策略利用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39E0D-7753-41AF-ADE7-1C958A8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11B65-1281-4777-91B5-0CBB021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8572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e89a0bcd3b47b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8441D-E8B4-4A8D-930C-5AF6A129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F4C91-8638-4DDC-AF1D-9BA3263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Capability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13936-B7C3-46CF-B780-8B055E8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C35ED"/>
                </a:solidFill>
                <a:latin typeface="Microsoft YaHei"/>
                <a:ea typeface="Microsoft YaHei"/>
                <a:cs typeface="Microsoft YaHei"/>
              </a:rPr>
              <a:t>36.9%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4699B-D2D2-42C4-A6E2-C98490AE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291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Hierarchical / High</a:t>
            </a:r>
          </a:p>
        </p:txBody>
      </p:sp>
    </p:spTree>
    <p:extLst>
      <p:ext uri="{BB962C8B-B14F-4D97-AF65-F5344CB8AC3E}">
        <p14:creationId xmlns:p14="http://schemas.microsoft.com/office/powerpoint/2010/main" val="7719406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9B00A-42C5-440F-B1E3-B39F181F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190DE-8ABB-4B53-8157-94F72D5C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K：Quality–Latency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D07F9-B8E4-4E52-8044-71417A7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高负载下不存在单一策略同时占优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4644-4646-460B-987E-E4DF8FB7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A29A6-2C3B-4981-9572-61CB567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8382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b5eaf282064b0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0C6AE-777E-4908-BF36-C7BE814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E9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F2E73-35F4-4A34-A47B-9800A160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能力优先：高质量但慢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资源优先：快但质量低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分层：质量约束下折中</a:t>
            </a:r>
          </a:p>
        </p:txBody>
      </p:sp>
    </p:spTree>
    <p:extLst>
      <p:ext uri="{BB962C8B-B14F-4D97-AF65-F5344CB8AC3E}">
        <p14:creationId xmlns:p14="http://schemas.microsoft.com/office/powerpoint/2010/main" val="7710562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29FCC-F8E4-4436-8165-F273D8C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7D95-B372-4B96-9964-E52AB66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L：完整实验指标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35899-1112-4F39-A577-1EBC9C1F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results/summary.csv 保留全部聚合维度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1710-7D53-488B-9645-E5F5C06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07DAF-E617-4B72-A31E-A973023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428750" y="1714500"/>
          <a:ext xmlns:a="http://schemas.openxmlformats.org/drawingml/2006/main" cx="93345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6667500"/>
              </a:tblGrid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</a:t>
                      </a:r>
                    </a:p>
                  </a:txBody>
                  <a:tcPr marL="91440" marR="91440" marT="45720" marB="45720">
                    <a:solidFill>
                      <a:srgbClr val="10182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median / violation / fallback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median / p95 / max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sla_ms / violation rate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total / mean per request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peak / average cloud and edge queue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Routing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 counts / node counts / cloud ratio / edge ratio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Overhead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344B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routing overhead ms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7344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1039A-6AF2-49D1-82E7-34DEC44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3975A-A7AE-43FF-BBFF-682C8FE3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Appendix M：实验结果文件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55C4C-C7A0-4268-AA7F-D33A5A2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CSV 与 JSON 支持复核和二次分析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468B2-E7FD-41FA-A79C-E5DE06B7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838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CD1AD-1323-43E8-955E-ACFE59F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52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32C1D-6EE0-4C31-96EC-A391ABE5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16B78-FB02-4796-ABFC-A8C17C0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8B5F4-B2D8-4879-84B3-1396180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907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raw_results.csv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BA909-2361-4F96-8386-8083F7F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8384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60 rows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每个 strategy × workload × seed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保留单次 run 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6EEBA-2BB9-4A7E-A96D-B3CC1FC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BA8E5-D4FE-47FD-8D7B-1D9E1C6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4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8E86B-E4B7-45D2-86FA-90AAECB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907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summary.csv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8CEF1-5A19-4967-8902-AD4F720B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52675"/>
            <a:ext cx="28384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12 rows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同一策略与负载跨 seed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统计 mean / std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17036-E9A8-4365-80E3-9244CCAB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29C19-EDD3-4E41-80F3-768434B1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81356-2ACF-46EF-91BB-22D50387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907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summary.json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40B45-B571-40BB-82EE-8B9CCA66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52675"/>
            <a:ext cx="28384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60 runs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12 aggregated groups</a:t>
            </a:r>
          </a:p>
          <a:p xmlns:a="http://schemas.openxmlformats.org/drawingml/2006/main">
            <a:pPr algn="l">
              <a:def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B69"/>
                </a:solidFill>
                <a:latin typeface="Microsoft YaHei"/>
                <a:ea typeface="Microsoft YaHei"/>
                <a:cs typeface="Microsoft YaHei"/>
              </a:rPr>
              <a:t>供脚本与报告读取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08F7D-F7E1-4BD6-975E-686D7D4D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目录：outputs/RouteLLM-hierarchical/results/</a:t>
            </a:r>
          </a:p>
        </p:txBody>
      </p:sp>
    </p:spTree>
    <p:extLst>
      <p:ext uri="{BB962C8B-B14F-4D97-AF65-F5344CB8AC3E}">
        <p14:creationId xmlns:p14="http://schemas.microsoft.com/office/powerpoint/2010/main" val="2006921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2026-09-24T07:00:26.3430000Z</dcterms:created>
  <dcterms:modified xsi:type="dcterms:W3CDTF">2026-09-24T07:00:26.3430000Z</dcterms:modified>
</coreProperties>
</file>